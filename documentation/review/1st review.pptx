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9" r:id="rId4"/>
    <p:sldId id="260" r:id="rId5"/>
    <p:sldId id="261" r:id="rId6"/>
    <p:sldId id="262" r:id="rId7"/>
    <p:sldId id="263" r:id="rId8"/>
    <p:sldId id="271" r:id="rId9"/>
    <p:sldId id="264" r:id="rId10"/>
    <p:sldId id="268"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93" d="100"/>
          <a:sy n="93" d="100"/>
        </p:scale>
        <p:origin x="1272"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89DD67-3D30-4B9D-AAF3-FCB54A825BA6}" type="datetimeFigureOut">
              <a:rPr lang="en-IN" smtClean="0"/>
              <a:t>05-02-2026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12C82-D164-47E6-84D5-556F92ED4E41}" type="slidenum">
              <a:rPr lang="en-IN" smtClean="0"/>
              <a:t>‹#›</a:t>
            </a:fld>
            <a:endParaRPr lang="en-IN"/>
          </a:p>
        </p:txBody>
      </p:sp>
    </p:spTree>
    <p:extLst>
      <p:ext uri="{BB962C8B-B14F-4D97-AF65-F5344CB8AC3E}">
        <p14:creationId xmlns:p14="http://schemas.microsoft.com/office/powerpoint/2010/main" val="3255759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FEE92-7FFC-C3F0-045F-C024C2CBB5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684BDA3-C332-E739-932B-485270DA89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ECC0FE4-E1A3-1544-2846-521360D48F0E}"/>
              </a:ext>
            </a:extLst>
          </p:cNvPr>
          <p:cNvSpPr>
            <a:spLocks noGrp="1"/>
          </p:cNvSpPr>
          <p:nvPr>
            <p:ph type="dt" sz="half" idx="10"/>
          </p:nvPr>
        </p:nvSpPr>
        <p:spPr/>
        <p:txBody>
          <a:bodyPr/>
          <a:lstStyle/>
          <a:p>
            <a:fld id="{83F06E1A-245F-475D-B943-324FD6DC64A9}" type="datetimeFigureOut">
              <a:rPr lang="en-IN" smtClean="0"/>
              <a:t>05-02-2026</a:t>
            </a:fld>
            <a:endParaRPr lang="en-IN"/>
          </a:p>
        </p:txBody>
      </p:sp>
      <p:sp>
        <p:nvSpPr>
          <p:cNvPr id="5" name="Footer Placeholder 4">
            <a:extLst>
              <a:ext uri="{FF2B5EF4-FFF2-40B4-BE49-F238E27FC236}">
                <a16:creationId xmlns:a16="http://schemas.microsoft.com/office/drawing/2014/main" id="{0A2E0949-AAD3-1FDD-4710-BD7276CB30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36CC6D-3ADF-5B68-B7DF-548DD315A89B}"/>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41707780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C7CC9-1059-13BF-1AC4-9A1FE12311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AD4B9D-F144-6F68-309F-5CF6F98A0C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648FD1-C210-7144-505C-3C1437B09C07}"/>
              </a:ext>
            </a:extLst>
          </p:cNvPr>
          <p:cNvSpPr>
            <a:spLocks noGrp="1"/>
          </p:cNvSpPr>
          <p:nvPr>
            <p:ph type="dt" sz="half" idx="10"/>
          </p:nvPr>
        </p:nvSpPr>
        <p:spPr/>
        <p:txBody>
          <a:bodyPr/>
          <a:lstStyle/>
          <a:p>
            <a:fld id="{83F06E1A-245F-475D-B943-324FD6DC64A9}" type="datetimeFigureOut">
              <a:rPr lang="en-IN" smtClean="0"/>
              <a:t>05-02-2026</a:t>
            </a:fld>
            <a:endParaRPr lang="en-IN"/>
          </a:p>
        </p:txBody>
      </p:sp>
      <p:sp>
        <p:nvSpPr>
          <p:cNvPr id="5" name="Footer Placeholder 4">
            <a:extLst>
              <a:ext uri="{FF2B5EF4-FFF2-40B4-BE49-F238E27FC236}">
                <a16:creationId xmlns:a16="http://schemas.microsoft.com/office/drawing/2014/main" id="{B669F284-8616-644C-22DF-9DC4E489E6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7286DE-0AB8-56D4-F60E-EA028666954E}"/>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4241997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E12E7-FE21-35EF-7564-C79F204DDF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77D65F-A879-B912-659C-73344657FB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9DD453-B3A7-C641-D25D-65E3F81B6937}"/>
              </a:ext>
            </a:extLst>
          </p:cNvPr>
          <p:cNvSpPr>
            <a:spLocks noGrp="1"/>
          </p:cNvSpPr>
          <p:nvPr>
            <p:ph type="dt" sz="half" idx="10"/>
          </p:nvPr>
        </p:nvSpPr>
        <p:spPr/>
        <p:txBody>
          <a:bodyPr/>
          <a:lstStyle/>
          <a:p>
            <a:fld id="{83F06E1A-245F-475D-B943-324FD6DC64A9}" type="datetimeFigureOut">
              <a:rPr lang="en-IN" smtClean="0"/>
              <a:t>05-02-2026</a:t>
            </a:fld>
            <a:endParaRPr lang="en-IN"/>
          </a:p>
        </p:txBody>
      </p:sp>
      <p:sp>
        <p:nvSpPr>
          <p:cNvPr id="5" name="Footer Placeholder 4">
            <a:extLst>
              <a:ext uri="{FF2B5EF4-FFF2-40B4-BE49-F238E27FC236}">
                <a16:creationId xmlns:a16="http://schemas.microsoft.com/office/drawing/2014/main" id="{A0538684-2218-AB3A-F4C9-021C62FCF7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7AA77C-85BD-1FA8-E106-7A4CD4615392}"/>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732477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366B5-2D45-2A8F-0933-25C86C0760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BF4327-193E-6ED9-4250-8DFBC4AB5A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2A81920-41A0-7100-448C-FA52776FC6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97C5F60-2B17-6450-4CF6-89282EB606D7}"/>
              </a:ext>
            </a:extLst>
          </p:cNvPr>
          <p:cNvSpPr>
            <a:spLocks noGrp="1"/>
          </p:cNvSpPr>
          <p:nvPr>
            <p:ph type="dt" sz="half" idx="10"/>
          </p:nvPr>
        </p:nvSpPr>
        <p:spPr/>
        <p:txBody>
          <a:bodyPr/>
          <a:lstStyle/>
          <a:p>
            <a:fld id="{83F06E1A-245F-475D-B943-324FD6DC64A9}" type="datetimeFigureOut">
              <a:rPr lang="en-IN" smtClean="0"/>
              <a:t>05-02-2026</a:t>
            </a:fld>
            <a:endParaRPr lang="en-IN"/>
          </a:p>
        </p:txBody>
      </p:sp>
      <p:sp>
        <p:nvSpPr>
          <p:cNvPr id="6" name="Footer Placeholder 5">
            <a:extLst>
              <a:ext uri="{FF2B5EF4-FFF2-40B4-BE49-F238E27FC236}">
                <a16:creationId xmlns:a16="http://schemas.microsoft.com/office/drawing/2014/main" id="{0255B943-A4B8-B0A7-DD5D-7F2F9430C6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3382E7-8587-3D9A-23D5-79E46514CA28}"/>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4502226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9C10D-EEC2-3386-E716-58562A34D76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84E454-031C-6EC2-A492-DEC33FDC7E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9C70AD-5E3D-C739-8D37-58729B07A9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1F7B4C8-275C-011F-E2D8-E4E4E32FEE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74BD65-A4F8-5F06-7245-B6DB984AD7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0B03FAE-F286-6972-BDA9-9DE3DE0ECA44}"/>
              </a:ext>
            </a:extLst>
          </p:cNvPr>
          <p:cNvSpPr>
            <a:spLocks noGrp="1"/>
          </p:cNvSpPr>
          <p:nvPr>
            <p:ph type="dt" sz="half" idx="10"/>
          </p:nvPr>
        </p:nvSpPr>
        <p:spPr/>
        <p:txBody>
          <a:bodyPr/>
          <a:lstStyle/>
          <a:p>
            <a:fld id="{83F06E1A-245F-475D-B943-324FD6DC64A9}" type="datetimeFigureOut">
              <a:rPr lang="en-IN" smtClean="0"/>
              <a:t>05-02-2026</a:t>
            </a:fld>
            <a:endParaRPr lang="en-IN"/>
          </a:p>
        </p:txBody>
      </p:sp>
      <p:sp>
        <p:nvSpPr>
          <p:cNvPr id="8" name="Footer Placeholder 7">
            <a:extLst>
              <a:ext uri="{FF2B5EF4-FFF2-40B4-BE49-F238E27FC236}">
                <a16:creationId xmlns:a16="http://schemas.microsoft.com/office/drawing/2014/main" id="{195A20EB-5B8D-C435-5B66-1BF9F9E222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1CB099-38C2-9675-5FA2-5C691C939485}"/>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142519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1299F-DB03-4A4D-A3A8-40001252997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AA0FDE-4391-5917-1EDD-0B81430CA355}"/>
              </a:ext>
            </a:extLst>
          </p:cNvPr>
          <p:cNvSpPr>
            <a:spLocks noGrp="1"/>
          </p:cNvSpPr>
          <p:nvPr>
            <p:ph type="dt" sz="half" idx="10"/>
          </p:nvPr>
        </p:nvSpPr>
        <p:spPr/>
        <p:txBody>
          <a:bodyPr/>
          <a:lstStyle/>
          <a:p>
            <a:fld id="{83F06E1A-245F-475D-B943-324FD6DC64A9}" type="datetimeFigureOut">
              <a:rPr lang="en-IN" smtClean="0"/>
              <a:t>05-02-2026</a:t>
            </a:fld>
            <a:endParaRPr lang="en-IN"/>
          </a:p>
        </p:txBody>
      </p:sp>
      <p:sp>
        <p:nvSpPr>
          <p:cNvPr id="4" name="Footer Placeholder 3">
            <a:extLst>
              <a:ext uri="{FF2B5EF4-FFF2-40B4-BE49-F238E27FC236}">
                <a16:creationId xmlns:a16="http://schemas.microsoft.com/office/drawing/2014/main" id="{55770B6A-142E-1C62-98DD-0F6E4B58E44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2BEE092-2C4A-F1C6-2001-65674909867B}"/>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20853476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9B58B1-5CAA-14E6-5DF5-314F191C53BF}"/>
              </a:ext>
            </a:extLst>
          </p:cNvPr>
          <p:cNvSpPr>
            <a:spLocks noGrp="1"/>
          </p:cNvSpPr>
          <p:nvPr>
            <p:ph type="dt" sz="half" idx="10"/>
          </p:nvPr>
        </p:nvSpPr>
        <p:spPr/>
        <p:txBody>
          <a:bodyPr/>
          <a:lstStyle/>
          <a:p>
            <a:fld id="{83F06E1A-245F-475D-B943-324FD6DC64A9}" type="datetimeFigureOut">
              <a:rPr lang="en-IN" smtClean="0"/>
              <a:t>05-02-2026</a:t>
            </a:fld>
            <a:endParaRPr lang="en-IN"/>
          </a:p>
        </p:txBody>
      </p:sp>
      <p:sp>
        <p:nvSpPr>
          <p:cNvPr id="3" name="Footer Placeholder 2">
            <a:extLst>
              <a:ext uri="{FF2B5EF4-FFF2-40B4-BE49-F238E27FC236}">
                <a16:creationId xmlns:a16="http://schemas.microsoft.com/office/drawing/2014/main" id="{FDFC0D2B-9F87-8EE3-68AC-C6529C231A9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83EF5E-CFB1-147A-F7AC-0950A481DE47}"/>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425888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FC236-E1EA-061D-4DDC-6D1E333D42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DB1FE4-7086-CD0C-C38F-FD14D93647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B68215E-2F98-BAE9-F3CA-D3D5917C93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922016-0875-16BC-0D17-DD3C18A32728}"/>
              </a:ext>
            </a:extLst>
          </p:cNvPr>
          <p:cNvSpPr>
            <a:spLocks noGrp="1"/>
          </p:cNvSpPr>
          <p:nvPr>
            <p:ph type="dt" sz="half" idx="10"/>
          </p:nvPr>
        </p:nvSpPr>
        <p:spPr/>
        <p:txBody>
          <a:bodyPr/>
          <a:lstStyle/>
          <a:p>
            <a:fld id="{83F06E1A-245F-475D-B943-324FD6DC64A9}" type="datetimeFigureOut">
              <a:rPr lang="en-IN" smtClean="0"/>
              <a:t>05-02-2026</a:t>
            </a:fld>
            <a:endParaRPr lang="en-IN"/>
          </a:p>
        </p:txBody>
      </p:sp>
      <p:sp>
        <p:nvSpPr>
          <p:cNvPr id="6" name="Footer Placeholder 5">
            <a:extLst>
              <a:ext uri="{FF2B5EF4-FFF2-40B4-BE49-F238E27FC236}">
                <a16:creationId xmlns:a16="http://schemas.microsoft.com/office/drawing/2014/main" id="{774C57FA-4D41-B297-3C13-C4645F1645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6D1D5B-C1EE-53D9-B183-34CE7614BBD7}"/>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15424701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DEA39-30BD-D710-AA93-48FC1F7373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AF7B90-667B-B8E7-6ED5-3C88137F8A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CA1D561-A240-DE93-2B25-C14A284ADE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8898F3-C732-2D1D-1415-B7918B3DFBA3}"/>
              </a:ext>
            </a:extLst>
          </p:cNvPr>
          <p:cNvSpPr>
            <a:spLocks noGrp="1"/>
          </p:cNvSpPr>
          <p:nvPr>
            <p:ph type="dt" sz="half" idx="10"/>
          </p:nvPr>
        </p:nvSpPr>
        <p:spPr/>
        <p:txBody>
          <a:bodyPr/>
          <a:lstStyle/>
          <a:p>
            <a:fld id="{83F06E1A-245F-475D-B943-324FD6DC64A9}" type="datetimeFigureOut">
              <a:rPr lang="en-IN" smtClean="0"/>
              <a:t>05-02-2026</a:t>
            </a:fld>
            <a:endParaRPr lang="en-IN"/>
          </a:p>
        </p:txBody>
      </p:sp>
      <p:sp>
        <p:nvSpPr>
          <p:cNvPr id="6" name="Footer Placeholder 5">
            <a:extLst>
              <a:ext uri="{FF2B5EF4-FFF2-40B4-BE49-F238E27FC236}">
                <a16:creationId xmlns:a16="http://schemas.microsoft.com/office/drawing/2014/main" id="{1300A322-A8CC-3942-AD53-48CA90E619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E4F9A8-41EA-FA64-3B00-F93502A2C79E}"/>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4167731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EB1DB-6758-D227-CDB3-BA42818DEE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4C4EB3-51D6-C956-E99F-FBDDF11640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BD27B0-EAFD-B2FE-4FA3-BCAAC97F1C54}"/>
              </a:ext>
            </a:extLst>
          </p:cNvPr>
          <p:cNvSpPr>
            <a:spLocks noGrp="1"/>
          </p:cNvSpPr>
          <p:nvPr>
            <p:ph type="dt" sz="half" idx="10"/>
          </p:nvPr>
        </p:nvSpPr>
        <p:spPr/>
        <p:txBody>
          <a:bodyPr/>
          <a:lstStyle/>
          <a:p>
            <a:fld id="{83F06E1A-245F-475D-B943-324FD6DC64A9}" type="datetimeFigureOut">
              <a:rPr lang="en-IN" smtClean="0"/>
              <a:t>05-02-2026</a:t>
            </a:fld>
            <a:endParaRPr lang="en-IN"/>
          </a:p>
        </p:txBody>
      </p:sp>
      <p:sp>
        <p:nvSpPr>
          <p:cNvPr id="5" name="Footer Placeholder 4">
            <a:extLst>
              <a:ext uri="{FF2B5EF4-FFF2-40B4-BE49-F238E27FC236}">
                <a16:creationId xmlns:a16="http://schemas.microsoft.com/office/drawing/2014/main" id="{DAE1164C-E103-97D5-26F5-271A2E510D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0002A6-08C0-66B4-F702-E1B21C1B2A9A}"/>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2047678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CBD958-1875-F74D-EB4C-75F7EF289D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8F0F8DD-60D3-FEA1-AE49-ED9068D319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D27D38-05B5-0FEC-7343-554443C4048E}"/>
              </a:ext>
            </a:extLst>
          </p:cNvPr>
          <p:cNvSpPr>
            <a:spLocks noGrp="1"/>
          </p:cNvSpPr>
          <p:nvPr>
            <p:ph type="dt" sz="half" idx="10"/>
          </p:nvPr>
        </p:nvSpPr>
        <p:spPr/>
        <p:txBody>
          <a:bodyPr/>
          <a:lstStyle/>
          <a:p>
            <a:fld id="{83F06E1A-245F-475D-B943-324FD6DC64A9}" type="datetimeFigureOut">
              <a:rPr lang="en-IN" smtClean="0"/>
              <a:t>05-02-2026</a:t>
            </a:fld>
            <a:endParaRPr lang="en-IN"/>
          </a:p>
        </p:txBody>
      </p:sp>
      <p:sp>
        <p:nvSpPr>
          <p:cNvPr id="5" name="Footer Placeholder 4">
            <a:extLst>
              <a:ext uri="{FF2B5EF4-FFF2-40B4-BE49-F238E27FC236}">
                <a16:creationId xmlns:a16="http://schemas.microsoft.com/office/drawing/2014/main" id="{20357194-212E-AEEA-DB50-F5035B36B4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6FC752-7AD8-C148-BBD1-9A3B25542A6D}"/>
              </a:ext>
            </a:extLst>
          </p:cNvPr>
          <p:cNvSpPr>
            <a:spLocks noGrp="1"/>
          </p:cNvSpPr>
          <p:nvPr>
            <p:ph type="sldNum" sz="quarter" idx="12"/>
          </p:nvPr>
        </p:nvSpPr>
        <p:spPr/>
        <p:txBody>
          <a:bodyPr/>
          <a:lstStyle/>
          <a:p>
            <a:fld id="{C225B14B-63C7-4CA8-A943-EDE7DDEBD228}" type="slidenum">
              <a:rPr lang="en-IN" smtClean="0"/>
              <a:t>‹#›</a:t>
            </a:fld>
            <a:endParaRPr lang="en-IN"/>
          </a:p>
        </p:txBody>
      </p:sp>
    </p:spTree>
    <p:extLst>
      <p:ext uri="{BB962C8B-B14F-4D97-AF65-F5344CB8AC3E}">
        <p14:creationId xmlns:p14="http://schemas.microsoft.com/office/powerpoint/2010/main" val="29006876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3635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E35F8C-FCB5-76D0-EF4C-F602619FEA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054B79-0158-AECB-BA51-D6D4BD25C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8037E5-7639-D8AD-57AA-7C2B02600A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F06E1A-245F-475D-B943-324FD6DC64A9}" type="datetimeFigureOut">
              <a:rPr lang="en-IN" smtClean="0"/>
              <a:t>05-02-2026</a:t>
            </a:fld>
            <a:endParaRPr lang="en-IN"/>
          </a:p>
        </p:txBody>
      </p:sp>
      <p:sp>
        <p:nvSpPr>
          <p:cNvPr id="5" name="Footer Placeholder 4">
            <a:extLst>
              <a:ext uri="{FF2B5EF4-FFF2-40B4-BE49-F238E27FC236}">
                <a16:creationId xmlns:a16="http://schemas.microsoft.com/office/drawing/2014/main" id="{3FD8FEBD-DEF7-89DA-AB65-775CD07C5F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55B3967-704C-84DE-46EE-B57FA0B105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25B14B-63C7-4CA8-A943-EDE7DDEBD228}" type="slidenum">
              <a:rPr lang="en-IN" smtClean="0"/>
              <a:t>‹#›</a:t>
            </a:fld>
            <a:endParaRPr lang="en-IN"/>
          </a:p>
        </p:txBody>
      </p:sp>
    </p:spTree>
    <p:extLst>
      <p:ext uri="{BB962C8B-B14F-4D97-AF65-F5344CB8AC3E}">
        <p14:creationId xmlns:p14="http://schemas.microsoft.com/office/powerpoint/2010/main" val="2544812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8A3D614-EEF4-BE84-A5AF-0AFBD724FCED}"/>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519310" y="-377802"/>
            <a:ext cx="14535150" cy="8176022"/>
          </a:xfrm>
          <a:prstGeom prst="rect">
            <a:avLst/>
          </a:prstGeom>
        </p:spPr>
      </p:pic>
      <p:sp>
        <p:nvSpPr>
          <p:cNvPr id="4" name="TextBox 3">
            <a:extLst>
              <a:ext uri="{FF2B5EF4-FFF2-40B4-BE49-F238E27FC236}">
                <a16:creationId xmlns:a16="http://schemas.microsoft.com/office/drawing/2014/main" id="{8BB4BD64-2A04-D551-DF18-3222FD29A1D9}"/>
              </a:ext>
            </a:extLst>
          </p:cNvPr>
          <p:cNvSpPr txBox="1"/>
          <p:nvPr/>
        </p:nvSpPr>
        <p:spPr>
          <a:xfrm>
            <a:off x="1074919" y="2367171"/>
            <a:ext cx="9346692" cy="2123658"/>
          </a:xfrm>
          <a:prstGeom prst="rect">
            <a:avLst/>
          </a:prstGeom>
          <a:noFill/>
        </p:spPr>
        <p:txBody>
          <a:bodyPr wrap="square" rtlCol="0">
            <a:spAutoFit/>
          </a:bodyPr>
          <a:lstStyle/>
          <a:p>
            <a:pPr algn="ctr"/>
            <a:r>
              <a:rPr lang="en-IN" sz="6600" b="1" dirty="0"/>
              <a:t>INTRUDER DETECTION </a:t>
            </a:r>
          </a:p>
          <a:p>
            <a:pPr algn="ctr"/>
            <a:r>
              <a:rPr lang="en-IN" sz="6600" b="1" dirty="0"/>
              <a:t>IN SUREVILANCE</a:t>
            </a:r>
          </a:p>
        </p:txBody>
      </p:sp>
      <p:sp>
        <p:nvSpPr>
          <p:cNvPr id="5" name="TextBox 4">
            <a:extLst>
              <a:ext uri="{FF2B5EF4-FFF2-40B4-BE49-F238E27FC236}">
                <a16:creationId xmlns:a16="http://schemas.microsoft.com/office/drawing/2014/main" id="{86876DBE-92D9-4782-06B6-02DB1E635D5A}"/>
              </a:ext>
            </a:extLst>
          </p:cNvPr>
          <p:cNvSpPr txBox="1"/>
          <p:nvPr/>
        </p:nvSpPr>
        <p:spPr>
          <a:xfrm>
            <a:off x="425196" y="4764024"/>
            <a:ext cx="4594860" cy="1754326"/>
          </a:xfrm>
          <a:prstGeom prst="rect">
            <a:avLst/>
          </a:prstGeom>
          <a:noFill/>
        </p:spPr>
        <p:txBody>
          <a:bodyPr wrap="square" rtlCol="0">
            <a:spAutoFit/>
          </a:bodyPr>
          <a:lstStyle/>
          <a:p>
            <a:r>
              <a:rPr lang="en-IN" b="1" dirty="0"/>
              <a:t>Under Guidance of :</a:t>
            </a:r>
          </a:p>
          <a:p>
            <a:r>
              <a:rPr lang="en-IN" dirty="0"/>
              <a:t>    </a:t>
            </a:r>
            <a:r>
              <a:rPr lang="en-IN" b="1" dirty="0"/>
              <a:t> </a:t>
            </a:r>
            <a:r>
              <a:rPr lang="ml-IN" b="1" dirty="0"/>
              <a:t>Dr.Rajesh Babu</a:t>
            </a:r>
            <a:endParaRPr lang="en-IN" b="1" dirty="0"/>
          </a:p>
          <a:p>
            <a:r>
              <a:rPr lang="en-IN" dirty="0"/>
              <a:t>     </a:t>
            </a:r>
            <a:r>
              <a:rPr lang="ml-IN" dirty="0"/>
              <a:t>Head of Department</a:t>
            </a:r>
            <a:endParaRPr lang="en-IN" dirty="0"/>
          </a:p>
          <a:p>
            <a:r>
              <a:rPr lang="en-IN" dirty="0"/>
              <a:t>     Dept. of Computer science and Engineering</a:t>
            </a:r>
          </a:p>
          <a:p>
            <a:r>
              <a:rPr lang="en-IN" dirty="0"/>
              <a:t>     </a:t>
            </a:r>
            <a:r>
              <a:rPr lang="en-IN" dirty="0" err="1"/>
              <a:t>Tamilnadu</a:t>
            </a:r>
            <a:r>
              <a:rPr lang="en-IN" dirty="0"/>
              <a:t> college of Engineering</a:t>
            </a:r>
          </a:p>
          <a:p>
            <a:r>
              <a:rPr lang="en-IN" dirty="0"/>
              <a:t>     Coimbatore</a:t>
            </a:r>
          </a:p>
        </p:txBody>
      </p:sp>
      <p:sp>
        <p:nvSpPr>
          <p:cNvPr id="6" name="TextBox 5">
            <a:extLst>
              <a:ext uri="{FF2B5EF4-FFF2-40B4-BE49-F238E27FC236}">
                <a16:creationId xmlns:a16="http://schemas.microsoft.com/office/drawing/2014/main" id="{8039A66C-370A-0E01-107A-6A8B0976A9E9}"/>
              </a:ext>
            </a:extLst>
          </p:cNvPr>
          <p:cNvSpPr txBox="1"/>
          <p:nvPr/>
        </p:nvSpPr>
        <p:spPr>
          <a:xfrm>
            <a:off x="7370064" y="4764024"/>
            <a:ext cx="4462272" cy="2031325"/>
          </a:xfrm>
          <a:prstGeom prst="rect">
            <a:avLst/>
          </a:prstGeom>
          <a:noFill/>
        </p:spPr>
        <p:txBody>
          <a:bodyPr wrap="square" rtlCol="0">
            <a:spAutoFit/>
          </a:bodyPr>
          <a:lstStyle/>
          <a:p>
            <a:r>
              <a:rPr lang="en-IN" b="1" dirty="0"/>
              <a:t>Team members:</a:t>
            </a:r>
          </a:p>
          <a:p>
            <a:r>
              <a:rPr lang="en-IN" b="1" dirty="0"/>
              <a:t>	</a:t>
            </a:r>
            <a:r>
              <a:rPr lang="en-IN" dirty="0"/>
              <a:t>Abineeth TM 	(22CSO4)</a:t>
            </a:r>
          </a:p>
          <a:p>
            <a:r>
              <a:rPr lang="en-IN" dirty="0"/>
              <a:t>	Basil V Mathew	(22CS08)</a:t>
            </a:r>
          </a:p>
          <a:p>
            <a:r>
              <a:rPr lang="en-IN" dirty="0"/>
              <a:t>	Inbarasu M   	(22CS21)</a:t>
            </a:r>
          </a:p>
          <a:p>
            <a:r>
              <a:rPr lang="en-IN" dirty="0"/>
              <a:t>	</a:t>
            </a:r>
            <a:r>
              <a:rPr lang="en-IN" dirty="0" err="1"/>
              <a:t>Koushick</a:t>
            </a:r>
            <a:r>
              <a:rPr lang="en-IN" dirty="0"/>
              <a:t> G V	(22CS29)</a:t>
            </a:r>
          </a:p>
          <a:p>
            <a:r>
              <a:rPr lang="en-IN" dirty="0"/>
              <a:t>   </a:t>
            </a:r>
          </a:p>
          <a:p>
            <a:endParaRPr lang="en-IN" dirty="0"/>
          </a:p>
        </p:txBody>
      </p:sp>
      <p:pic>
        <p:nvPicPr>
          <p:cNvPr id="3" name="Picture 2">
            <a:extLst>
              <a:ext uri="{FF2B5EF4-FFF2-40B4-BE49-F238E27FC236}">
                <a16:creationId xmlns:a16="http://schemas.microsoft.com/office/drawing/2014/main" id="{8FF7C1C6-AA9D-8DDA-EFF9-2EDF8D1711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654" y="62651"/>
            <a:ext cx="8214301" cy="1666547"/>
          </a:xfrm>
          <a:prstGeom prst="rect">
            <a:avLst/>
          </a:prstGeom>
        </p:spPr>
      </p:pic>
    </p:spTree>
    <p:extLst>
      <p:ext uri="{BB962C8B-B14F-4D97-AF65-F5344CB8AC3E}">
        <p14:creationId xmlns:p14="http://schemas.microsoft.com/office/powerpoint/2010/main" val="1090281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8F1BB6C-6368-8368-9120-60FF265F3411}"/>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5389959"/>
            <a:ext cx="21774150" cy="12247959"/>
          </a:xfrm>
          <a:prstGeom prst="rect">
            <a:avLst/>
          </a:prstGeom>
        </p:spPr>
      </p:pic>
      <p:sp>
        <p:nvSpPr>
          <p:cNvPr id="4" name="TextBox 3">
            <a:extLst>
              <a:ext uri="{FF2B5EF4-FFF2-40B4-BE49-F238E27FC236}">
                <a16:creationId xmlns:a16="http://schemas.microsoft.com/office/drawing/2014/main" id="{69261670-E09E-7BFF-13E8-31AA05724209}"/>
              </a:ext>
            </a:extLst>
          </p:cNvPr>
          <p:cNvSpPr txBox="1"/>
          <p:nvPr/>
        </p:nvSpPr>
        <p:spPr>
          <a:xfrm>
            <a:off x="542925" y="895350"/>
            <a:ext cx="3600450" cy="646331"/>
          </a:xfrm>
          <a:prstGeom prst="rect">
            <a:avLst/>
          </a:prstGeom>
          <a:noFill/>
        </p:spPr>
        <p:txBody>
          <a:bodyPr wrap="square" rtlCol="0">
            <a:spAutoFit/>
          </a:bodyPr>
          <a:lstStyle/>
          <a:p>
            <a:r>
              <a:rPr lang="en-IN" sz="3600" b="1" dirty="0"/>
              <a:t>INTRODUCTION</a:t>
            </a:r>
          </a:p>
        </p:txBody>
      </p:sp>
      <p:sp>
        <p:nvSpPr>
          <p:cNvPr id="5" name="TextBox 4">
            <a:extLst>
              <a:ext uri="{FF2B5EF4-FFF2-40B4-BE49-F238E27FC236}">
                <a16:creationId xmlns:a16="http://schemas.microsoft.com/office/drawing/2014/main" id="{46075A51-5C5A-FE59-F3C1-179DCB5B6977}"/>
              </a:ext>
            </a:extLst>
          </p:cNvPr>
          <p:cNvSpPr txBox="1"/>
          <p:nvPr/>
        </p:nvSpPr>
        <p:spPr>
          <a:xfrm>
            <a:off x="542925" y="2413337"/>
            <a:ext cx="11153775" cy="3046988"/>
          </a:xfrm>
          <a:prstGeom prst="rect">
            <a:avLst/>
          </a:prstGeom>
          <a:noFill/>
        </p:spPr>
        <p:txBody>
          <a:bodyPr wrap="square" rtlCol="0">
            <a:spAutoFit/>
          </a:bodyPr>
          <a:lstStyle/>
          <a:p>
            <a:r>
              <a:rPr lang="en-US" sz="2400" dirty="0"/>
              <a:t>In today's world, security is a top priority, and surveillance systems play a crucial role in maintaining it. However, traditional surveillance systems often rely on human monitoring, which can be prone to errors and inefficiencies. Our project aims to address this issue by developing an intelligent surveillance system that can detect individuals, recognize their faces, and identify their dress code in </a:t>
            </a:r>
            <a:r>
              <a:rPr lang="en-US" sz="2400" dirty="0" err="1"/>
              <a:t>realtime</a:t>
            </a:r>
            <a:r>
              <a:rPr lang="en-US" sz="2400" dirty="0"/>
              <a:t>, enabling swift action against potential security breaches. The proposed system has the potential to revolutionize the field of surveillance and security, providing a more effective and efficient solution for modern security challenges.</a:t>
            </a:r>
            <a:endParaRPr lang="en-IN" sz="2400" dirty="0"/>
          </a:p>
        </p:txBody>
      </p:sp>
    </p:spTree>
    <p:extLst>
      <p:ext uri="{BB962C8B-B14F-4D97-AF65-F5344CB8AC3E}">
        <p14:creationId xmlns:p14="http://schemas.microsoft.com/office/powerpoint/2010/main" val="34912925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DBF97-40D2-26A6-9F97-B1BE03821A6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A0FD175-5289-F421-1F78-AEEFD11B911D}"/>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3803650" y="-4685109"/>
            <a:ext cx="24415750" cy="13733859"/>
          </a:xfrm>
          <a:prstGeom prst="rect">
            <a:avLst/>
          </a:prstGeom>
        </p:spPr>
      </p:pic>
      <p:sp>
        <p:nvSpPr>
          <p:cNvPr id="4" name="TextBox 3">
            <a:extLst>
              <a:ext uri="{FF2B5EF4-FFF2-40B4-BE49-F238E27FC236}">
                <a16:creationId xmlns:a16="http://schemas.microsoft.com/office/drawing/2014/main" id="{FE9FA144-CF63-3388-8FA7-5C22AC613950}"/>
              </a:ext>
            </a:extLst>
          </p:cNvPr>
          <p:cNvSpPr txBox="1"/>
          <p:nvPr/>
        </p:nvSpPr>
        <p:spPr>
          <a:xfrm>
            <a:off x="542925" y="895350"/>
            <a:ext cx="3181350" cy="646331"/>
          </a:xfrm>
          <a:prstGeom prst="rect">
            <a:avLst/>
          </a:prstGeom>
          <a:noFill/>
        </p:spPr>
        <p:txBody>
          <a:bodyPr wrap="square" rtlCol="0">
            <a:spAutoFit/>
          </a:bodyPr>
          <a:lstStyle/>
          <a:p>
            <a:r>
              <a:rPr lang="en-IN" sz="3600" b="1" dirty="0"/>
              <a:t>ABSTRACT</a:t>
            </a:r>
          </a:p>
        </p:txBody>
      </p:sp>
      <p:sp>
        <p:nvSpPr>
          <p:cNvPr id="5" name="TextBox 4">
            <a:extLst>
              <a:ext uri="{FF2B5EF4-FFF2-40B4-BE49-F238E27FC236}">
                <a16:creationId xmlns:a16="http://schemas.microsoft.com/office/drawing/2014/main" id="{F2F84BA8-C6DA-C599-743C-A5A72AF4689A}"/>
              </a:ext>
            </a:extLst>
          </p:cNvPr>
          <p:cNvSpPr txBox="1"/>
          <p:nvPr/>
        </p:nvSpPr>
        <p:spPr>
          <a:xfrm>
            <a:off x="542925" y="2413337"/>
            <a:ext cx="11153775" cy="3416320"/>
          </a:xfrm>
          <a:prstGeom prst="rect">
            <a:avLst/>
          </a:prstGeom>
          <a:noFill/>
        </p:spPr>
        <p:txBody>
          <a:bodyPr wrap="square" rtlCol="0">
            <a:spAutoFit/>
          </a:bodyPr>
          <a:lstStyle/>
          <a:p>
            <a:r>
              <a:rPr lang="en-US" sz="2400" dirty="0"/>
              <a:t>This project develops an intelligent surveillance system that detects individuals, recognizes their faces, and identifies their dress code in </a:t>
            </a:r>
            <a:r>
              <a:rPr lang="en-US" sz="2400" dirty="0" err="1"/>
              <a:t>realtime</a:t>
            </a:r>
            <a:r>
              <a:rPr lang="en-US" sz="2400" dirty="0"/>
              <a:t>, enabling swift action against potential security breaches. The system uses computer vision and deep learning techniques, including face detection, individual detection, and dress code recognition, to automate surveillance and reduce human error. By integrating these techniques, the system provides a robust and efficient solution for security personnel to monitor and respond to potential threats. The proposed system has the potential to enhance security measures in various settings, including public spaces, offices, and border control points, making it a valuable contribution to the field of surveillance and security.</a:t>
            </a:r>
            <a:endParaRPr lang="en-IN" sz="2400" dirty="0"/>
          </a:p>
        </p:txBody>
      </p:sp>
    </p:spTree>
    <p:extLst>
      <p:ext uri="{BB962C8B-B14F-4D97-AF65-F5344CB8AC3E}">
        <p14:creationId xmlns:p14="http://schemas.microsoft.com/office/powerpoint/2010/main" val="1857461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F8045-5EB8-F9EB-4F64-91860639F7B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23EAA79-45C5-ABD7-22BD-ABB4481A6443}"/>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1347450" y="-4038600"/>
            <a:ext cx="27718808" cy="15591829"/>
          </a:xfrm>
          <a:prstGeom prst="rect">
            <a:avLst/>
          </a:prstGeom>
        </p:spPr>
      </p:pic>
      <p:sp>
        <p:nvSpPr>
          <p:cNvPr id="4" name="TextBox 3">
            <a:extLst>
              <a:ext uri="{FF2B5EF4-FFF2-40B4-BE49-F238E27FC236}">
                <a16:creationId xmlns:a16="http://schemas.microsoft.com/office/drawing/2014/main" id="{B0F2D3C6-F802-BBB8-ECFE-760D4B6D68A0}"/>
              </a:ext>
            </a:extLst>
          </p:cNvPr>
          <p:cNvSpPr txBox="1"/>
          <p:nvPr/>
        </p:nvSpPr>
        <p:spPr>
          <a:xfrm>
            <a:off x="542925" y="895350"/>
            <a:ext cx="3562350" cy="646331"/>
          </a:xfrm>
          <a:prstGeom prst="rect">
            <a:avLst/>
          </a:prstGeom>
          <a:noFill/>
        </p:spPr>
        <p:txBody>
          <a:bodyPr wrap="square" rtlCol="0">
            <a:spAutoFit/>
          </a:bodyPr>
          <a:lstStyle/>
          <a:p>
            <a:r>
              <a:rPr lang="en-IN" sz="3600" b="1" dirty="0"/>
              <a:t>Technology used</a:t>
            </a:r>
          </a:p>
        </p:txBody>
      </p:sp>
      <p:sp>
        <p:nvSpPr>
          <p:cNvPr id="5" name="TextBox 4">
            <a:extLst>
              <a:ext uri="{FF2B5EF4-FFF2-40B4-BE49-F238E27FC236}">
                <a16:creationId xmlns:a16="http://schemas.microsoft.com/office/drawing/2014/main" id="{8E7E1E11-81DF-7F03-C8FA-40096D618FE7}"/>
              </a:ext>
            </a:extLst>
          </p:cNvPr>
          <p:cNvSpPr txBox="1"/>
          <p:nvPr/>
        </p:nvSpPr>
        <p:spPr>
          <a:xfrm>
            <a:off x="542925" y="2413337"/>
            <a:ext cx="11153775" cy="3416320"/>
          </a:xfrm>
          <a:prstGeom prst="rect">
            <a:avLst/>
          </a:prstGeom>
          <a:noFill/>
        </p:spPr>
        <p:txBody>
          <a:bodyPr wrap="square" rtlCol="0">
            <a:spAutoFit/>
          </a:bodyPr>
          <a:lstStyle/>
          <a:p>
            <a:r>
              <a:rPr lang="en-US" sz="2400" dirty="0"/>
              <a:t>Language		: python</a:t>
            </a:r>
          </a:p>
          <a:p>
            <a:r>
              <a:rPr lang="en-US" sz="2400" dirty="0"/>
              <a:t>GUI			: </a:t>
            </a:r>
            <a:r>
              <a:rPr lang="en-US" sz="2400" dirty="0" err="1"/>
              <a:t>tkinder</a:t>
            </a:r>
            <a:endParaRPr lang="en-US" sz="2400" dirty="0"/>
          </a:p>
          <a:p>
            <a:r>
              <a:rPr lang="en-US" sz="2400" dirty="0"/>
              <a:t>video processing	: cv2</a:t>
            </a:r>
          </a:p>
          <a:p>
            <a:r>
              <a:rPr lang="en-US" sz="2400" dirty="0"/>
              <a:t>face recognition	: </a:t>
            </a:r>
            <a:r>
              <a:rPr lang="en-US" sz="2400" dirty="0" err="1"/>
              <a:t>face_recoginition</a:t>
            </a:r>
            <a:r>
              <a:rPr lang="en-US" sz="2400" dirty="0"/>
              <a:t> / </a:t>
            </a:r>
            <a:r>
              <a:rPr lang="en-US" sz="2400" dirty="0" err="1"/>
              <a:t>numpy</a:t>
            </a:r>
            <a:endParaRPr lang="en-US" sz="2400" dirty="0"/>
          </a:p>
          <a:p>
            <a:r>
              <a:rPr lang="en-US" sz="2400" dirty="0"/>
              <a:t>object detection	: tensor flow</a:t>
            </a:r>
          </a:p>
          <a:p>
            <a:r>
              <a:rPr lang="en-US" sz="2400" dirty="0"/>
              <a:t>image processing	: pillow</a:t>
            </a:r>
          </a:p>
          <a:p>
            <a:r>
              <a:rPr lang="en-US" sz="2400" dirty="0"/>
              <a:t>data storage		: pickle / </a:t>
            </a:r>
            <a:r>
              <a:rPr lang="en-US" sz="2400" dirty="0" err="1"/>
              <a:t>json</a:t>
            </a:r>
            <a:r>
              <a:rPr lang="en-US" sz="2400" dirty="0"/>
              <a:t> /SQLite</a:t>
            </a:r>
          </a:p>
          <a:p>
            <a:r>
              <a:rPr lang="en-US" sz="2400" dirty="0"/>
              <a:t>file management	: </a:t>
            </a:r>
            <a:r>
              <a:rPr lang="en-US" sz="2400" dirty="0" err="1"/>
              <a:t>os</a:t>
            </a:r>
            <a:r>
              <a:rPr lang="en-US" sz="2400" dirty="0"/>
              <a:t> / pickle</a:t>
            </a:r>
          </a:p>
          <a:p>
            <a:r>
              <a:rPr lang="en-US" sz="2400" dirty="0"/>
              <a:t>alerts			: </a:t>
            </a:r>
            <a:r>
              <a:rPr lang="en-US" sz="2400" dirty="0" err="1"/>
              <a:t>smtplib</a:t>
            </a:r>
            <a:endParaRPr lang="en-IN" sz="2400" dirty="0"/>
          </a:p>
        </p:txBody>
      </p:sp>
    </p:spTree>
    <p:extLst>
      <p:ext uri="{BB962C8B-B14F-4D97-AF65-F5344CB8AC3E}">
        <p14:creationId xmlns:p14="http://schemas.microsoft.com/office/powerpoint/2010/main" val="42492304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E6088-9819-DBF1-8272-871BA19F020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E6686B7-65D4-DD04-0DA5-CCB4533C2CFF}"/>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6376651" y="-1657350"/>
            <a:ext cx="30834541" cy="17344429"/>
          </a:xfrm>
          <a:prstGeom prst="rect">
            <a:avLst/>
          </a:prstGeom>
        </p:spPr>
      </p:pic>
      <p:sp>
        <p:nvSpPr>
          <p:cNvPr id="4" name="TextBox 3">
            <a:extLst>
              <a:ext uri="{FF2B5EF4-FFF2-40B4-BE49-F238E27FC236}">
                <a16:creationId xmlns:a16="http://schemas.microsoft.com/office/drawing/2014/main" id="{3D27A311-4364-651C-23C3-87A53E57DF0B}"/>
              </a:ext>
            </a:extLst>
          </p:cNvPr>
          <p:cNvSpPr txBox="1"/>
          <p:nvPr/>
        </p:nvSpPr>
        <p:spPr>
          <a:xfrm>
            <a:off x="542924" y="895350"/>
            <a:ext cx="3990975" cy="646331"/>
          </a:xfrm>
          <a:prstGeom prst="rect">
            <a:avLst/>
          </a:prstGeom>
          <a:noFill/>
        </p:spPr>
        <p:txBody>
          <a:bodyPr wrap="square" rtlCol="0">
            <a:spAutoFit/>
          </a:bodyPr>
          <a:lstStyle/>
          <a:p>
            <a:r>
              <a:rPr lang="en-IN" sz="3600" b="1" dirty="0"/>
              <a:t>Literature Survey</a:t>
            </a:r>
          </a:p>
        </p:txBody>
      </p:sp>
      <p:sp>
        <p:nvSpPr>
          <p:cNvPr id="5" name="TextBox 4">
            <a:extLst>
              <a:ext uri="{FF2B5EF4-FFF2-40B4-BE49-F238E27FC236}">
                <a16:creationId xmlns:a16="http://schemas.microsoft.com/office/drawing/2014/main" id="{EE494473-0955-8D15-2B2C-92DA31B123DA}"/>
              </a:ext>
            </a:extLst>
          </p:cNvPr>
          <p:cNvSpPr txBox="1"/>
          <p:nvPr/>
        </p:nvSpPr>
        <p:spPr>
          <a:xfrm>
            <a:off x="542924" y="2260937"/>
            <a:ext cx="11477625" cy="4524315"/>
          </a:xfrm>
          <a:prstGeom prst="rect">
            <a:avLst/>
          </a:prstGeom>
          <a:noFill/>
        </p:spPr>
        <p:txBody>
          <a:bodyPr wrap="square" rtlCol="0">
            <a:spAutoFit/>
          </a:bodyPr>
          <a:lstStyle/>
          <a:p>
            <a:pPr marL="342900" indent="-342900">
              <a:buFont typeface="Arial" panose="020B0604020202020204" pitchFamily="34" charset="0"/>
              <a:buChar char="•"/>
            </a:pPr>
            <a:r>
              <a:rPr lang="en-US" sz="2400" b="1" dirty="0"/>
              <a:t> Face Detection: </a:t>
            </a:r>
            <a:r>
              <a:rPr lang="en-US" sz="2400" dirty="0"/>
              <a:t>MTCNN, </a:t>
            </a:r>
            <a:r>
              <a:rPr lang="en-US" sz="2400" dirty="0" err="1"/>
              <a:t>RetinaFace</a:t>
            </a:r>
            <a:r>
              <a:rPr lang="en-US" sz="2400" dirty="0"/>
              <a:t>, and Haar Cascade are state of </a:t>
            </a:r>
            <a:r>
              <a:rPr lang="en-US" sz="2400" dirty="0" err="1"/>
              <a:t>theart</a:t>
            </a:r>
            <a:r>
              <a:rPr lang="en-US" sz="2400" dirty="0"/>
              <a:t> techniques for face detection in surveillance systems.</a:t>
            </a:r>
          </a:p>
          <a:p>
            <a:pPr marL="342900" indent="-342900">
              <a:buFont typeface="Arial" panose="020B0604020202020204" pitchFamily="34" charset="0"/>
              <a:buChar char="•"/>
            </a:pPr>
            <a:r>
              <a:rPr lang="en-US" sz="2400" b="1" dirty="0"/>
              <a:t>Individual Detection: </a:t>
            </a:r>
            <a:r>
              <a:rPr lang="en-US" sz="2400" dirty="0"/>
              <a:t>YOLOv3/v4, Faster RCNN, and SSD are popular object detection algorithms used for individual detection.</a:t>
            </a:r>
          </a:p>
          <a:p>
            <a:pPr marL="342900" indent="-342900">
              <a:buFont typeface="Arial" panose="020B0604020202020204" pitchFamily="34" charset="0"/>
              <a:buChar char="•"/>
            </a:pPr>
            <a:r>
              <a:rPr lang="en-US" sz="2400" b="1" dirty="0"/>
              <a:t>Dress Code Recognition: </a:t>
            </a:r>
            <a:r>
              <a:rPr lang="en-US" sz="2400" dirty="0"/>
              <a:t>Deep-Fashion, Clothing-Net, and Transfer Learning approaches are used for dress code recognition.</a:t>
            </a:r>
          </a:p>
          <a:p>
            <a:pPr marL="342900" indent="-342900">
              <a:buFont typeface="Arial" panose="020B0604020202020204" pitchFamily="34" charset="0"/>
              <a:buChar char="•"/>
            </a:pPr>
            <a:r>
              <a:rPr lang="en-US" sz="2400" b="1" dirty="0"/>
              <a:t>Research Gap: </a:t>
            </a:r>
            <a:r>
              <a:rPr lang="en-US" sz="2400" dirty="0"/>
              <a:t>Limited studies combine face detection, person detection, and dress code recognition in real time CCTV streams, highlighting the need for an integrated system.</a:t>
            </a:r>
          </a:p>
          <a:p>
            <a:pPr marL="342900" indent="-342900">
              <a:buFont typeface="Arial" panose="020B0604020202020204" pitchFamily="34" charset="0"/>
              <a:buChar char="•"/>
            </a:pPr>
            <a:r>
              <a:rPr lang="en-US" sz="2400" b="1" dirty="0"/>
              <a:t>Key Takeaway: </a:t>
            </a:r>
            <a:r>
              <a:rPr lang="en-US" sz="2400" dirty="0"/>
              <a:t>Our project will leverage MTCNN/YOLOv3 for detection and finetuned CNNs for dress code, addressing </a:t>
            </a:r>
            <a:r>
              <a:rPr lang="en-US" sz="2400" dirty="0" err="1"/>
              <a:t>realtime</a:t>
            </a:r>
            <a:r>
              <a:rPr lang="en-US" sz="2400" dirty="0"/>
              <a:t> performance and robustness to CCTV constraints.</a:t>
            </a:r>
            <a:endParaRPr lang="en-IN" sz="2400" dirty="0"/>
          </a:p>
        </p:txBody>
      </p:sp>
    </p:spTree>
    <p:extLst>
      <p:ext uri="{BB962C8B-B14F-4D97-AF65-F5344CB8AC3E}">
        <p14:creationId xmlns:p14="http://schemas.microsoft.com/office/powerpoint/2010/main" val="34262524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203E4-0A75-CC41-C9FA-0E89413199E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E96BC6A-E9DC-044D-849A-E3073FA90E55}"/>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8967451" y="-6515100"/>
            <a:ext cx="30834541" cy="17344429"/>
          </a:xfrm>
          <a:prstGeom prst="rect">
            <a:avLst/>
          </a:prstGeom>
        </p:spPr>
      </p:pic>
      <p:sp>
        <p:nvSpPr>
          <p:cNvPr id="4" name="TextBox 3">
            <a:extLst>
              <a:ext uri="{FF2B5EF4-FFF2-40B4-BE49-F238E27FC236}">
                <a16:creationId xmlns:a16="http://schemas.microsoft.com/office/drawing/2014/main" id="{2575812F-5CAC-C210-76E1-5BD06BEAB542}"/>
              </a:ext>
            </a:extLst>
          </p:cNvPr>
          <p:cNvSpPr txBox="1"/>
          <p:nvPr/>
        </p:nvSpPr>
        <p:spPr>
          <a:xfrm>
            <a:off x="542924" y="895350"/>
            <a:ext cx="3990975" cy="646331"/>
          </a:xfrm>
          <a:prstGeom prst="rect">
            <a:avLst/>
          </a:prstGeom>
          <a:noFill/>
        </p:spPr>
        <p:txBody>
          <a:bodyPr wrap="square" rtlCol="0">
            <a:spAutoFit/>
          </a:bodyPr>
          <a:lstStyle/>
          <a:p>
            <a:r>
              <a:rPr lang="en-IN" sz="3600" b="1" dirty="0"/>
              <a:t>Existing System</a:t>
            </a:r>
          </a:p>
        </p:txBody>
      </p:sp>
      <p:sp>
        <p:nvSpPr>
          <p:cNvPr id="5" name="TextBox 4">
            <a:extLst>
              <a:ext uri="{FF2B5EF4-FFF2-40B4-BE49-F238E27FC236}">
                <a16:creationId xmlns:a16="http://schemas.microsoft.com/office/drawing/2014/main" id="{0476D9A2-35F4-915B-10E2-4F025403EE82}"/>
              </a:ext>
            </a:extLst>
          </p:cNvPr>
          <p:cNvSpPr txBox="1"/>
          <p:nvPr/>
        </p:nvSpPr>
        <p:spPr>
          <a:xfrm>
            <a:off x="542925" y="2413337"/>
            <a:ext cx="11477625"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Security mainly relies on ID cards, RFID, or manual verification</a:t>
            </a:r>
          </a:p>
          <a:p>
            <a:pPr marL="342900" indent="-342900">
              <a:buFont typeface="Arial" panose="020B0604020202020204" pitchFamily="34" charset="0"/>
              <a:buChar char="•"/>
            </a:pPr>
            <a:r>
              <a:rPr lang="en-US" sz="2400" dirty="0"/>
              <a:t>CCTV cameras are monitored manually by security personnel</a:t>
            </a:r>
          </a:p>
          <a:p>
            <a:pPr marL="342900" indent="-342900">
              <a:buFont typeface="Arial" panose="020B0604020202020204" pitchFamily="34" charset="0"/>
              <a:buChar char="•"/>
            </a:pPr>
            <a:r>
              <a:rPr lang="en-US" sz="2400" dirty="0"/>
              <a:t>Biometric systems (fingerprint / RFID) are limited to entry points</a:t>
            </a:r>
          </a:p>
          <a:p>
            <a:pPr marL="342900" indent="-342900">
              <a:buFont typeface="Arial" panose="020B0604020202020204" pitchFamily="34" charset="0"/>
              <a:buChar char="•"/>
            </a:pPr>
            <a:r>
              <a:rPr lang="en-US" sz="2400" dirty="0"/>
              <a:t>Face recognition systems (commercial) are costly and cloud-dependent</a:t>
            </a:r>
          </a:p>
          <a:p>
            <a:pPr marL="342900" indent="-342900">
              <a:buFont typeface="Arial" panose="020B0604020202020204" pitchFamily="34" charset="0"/>
              <a:buChar char="•"/>
            </a:pPr>
            <a:r>
              <a:rPr lang="en-US" sz="2400" dirty="0"/>
              <a:t>No automatic intruder detection mechanism</a:t>
            </a:r>
          </a:p>
          <a:p>
            <a:pPr marL="342900" indent="-342900">
              <a:buFont typeface="Arial" panose="020B0604020202020204" pitchFamily="34" charset="0"/>
              <a:buChar char="•"/>
            </a:pPr>
            <a:r>
              <a:rPr lang="en-US" sz="2400" dirty="0"/>
              <a:t>No verification of dress code compliance</a:t>
            </a:r>
          </a:p>
          <a:p>
            <a:pPr marL="342900" indent="-342900">
              <a:buFont typeface="Arial" panose="020B0604020202020204" pitchFamily="34" charset="0"/>
              <a:buChar char="•"/>
            </a:pPr>
            <a:r>
              <a:rPr lang="en-US" sz="2400" dirty="0"/>
              <a:t>No visual check for ID card presence</a:t>
            </a:r>
          </a:p>
          <a:p>
            <a:pPr marL="342900" indent="-342900">
              <a:buFont typeface="Arial" panose="020B0604020202020204" pitchFamily="34" charset="0"/>
              <a:buChar char="•"/>
            </a:pPr>
            <a:r>
              <a:rPr lang="en-US" sz="2400" dirty="0"/>
              <a:t>High dependence on human supervision</a:t>
            </a:r>
          </a:p>
          <a:p>
            <a:pPr marL="342900" indent="-342900">
              <a:buFont typeface="Arial" panose="020B0604020202020204" pitchFamily="34" charset="0"/>
              <a:buChar char="•"/>
            </a:pPr>
            <a:r>
              <a:rPr lang="en-US" sz="2400" dirty="0"/>
              <a:t>Prone to human error, card misuse, and delayed response</a:t>
            </a:r>
          </a:p>
          <a:p>
            <a:pPr marL="342900" indent="-342900">
              <a:buFont typeface="Arial" panose="020B0604020202020204" pitchFamily="34" charset="0"/>
              <a:buChar char="•"/>
            </a:pPr>
            <a:r>
              <a:rPr lang="en-US" sz="2400" dirty="0"/>
              <a:t>Limited automation, scalability, and customization</a:t>
            </a:r>
            <a:endParaRPr lang="en-IN" sz="2400" dirty="0"/>
          </a:p>
        </p:txBody>
      </p:sp>
    </p:spTree>
    <p:extLst>
      <p:ext uri="{BB962C8B-B14F-4D97-AF65-F5344CB8AC3E}">
        <p14:creationId xmlns:p14="http://schemas.microsoft.com/office/powerpoint/2010/main" val="41157574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BF3D4-7135-08F2-C6D2-6918225E1B3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E9A0E4E-7310-9F5D-E6B9-10F40EC288CB}"/>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21024851" y="-11622881"/>
            <a:ext cx="32854901" cy="18480881"/>
          </a:xfrm>
          <a:prstGeom prst="rect">
            <a:avLst/>
          </a:prstGeom>
        </p:spPr>
      </p:pic>
      <p:sp>
        <p:nvSpPr>
          <p:cNvPr id="4" name="TextBox 3">
            <a:extLst>
              <a:ext uri="{FF2B5EF4-FFF2-40B4-BE49-F238E27FC236}">
                <a16:creationId xmlns:a16="http://schemas.microsoft.com/office/drawing/2014/main" id="{8DAB18A3-7054-1BEF-0232-4E457FFF14D2}"/>
              </a:ext>
            </a:extLst>
          </p:cNvPr>
          <p:cNvSpPr txBox="1"/>
          <p:nvPr/>
        </p:nvSpPr>
        <p:spPr>
          <a:xfrm>
            <a:off x="542924" y="895350"/>
            <a:ext cx="3990975" cy="646331"/>
          </a:xfrm>
          <a:prstGeom prst="rect">
            <a:avLst/>
          </a:prstGeom>
          <a:noFill/>
        </p:spPr>
        <p:txBody>
          <a:bodyPr wrap="square" rtlCol="0">
            <a:spAutoFit/>
          </a:bodyPr>
          <a:lstStyle/>
          <a:p>
            <a:r>
              <a:rPr lang="en-IN" sz="3600" b="1" dirty="0"/>
              <a:t>Proposed system</a:t>
            </a:r>
          </a:p>
        </p:txBody>
      </p:sp>
      <p:sp>
        <p:nvSpPr>
          <p:cNvPr id="5" name="TextBox 4">
            <a:extLst>
              <a:ext uri="{FF2B5EF4-FFF2-40B4-BE49-F238E27FC236}">
                <a16:creationId xmlns:a16="http://schemas.microsoft.com/office/drawing/2014/main" id="{5B498D2B-6E2E-D6B5-01C4-82E6D7B5DAE8}"/>
              </a:ext>
            </a:extLst>
          </p:cNvPr>
          <p:cNvSpPr txBox="1"/>
          <p:nvPr/>
        </p:nvSpPr>
        <p:spPr>
          <a:xfrm>
            <a:off x="542925" y="2413337"/>
            <a:ext cx="11477625"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An </a:t>
            </a:r>
            <a:r>
              <a:rPr lang="en-US" sz="2400" b="1" dirty="0"/>
              <a:t>automated security system</a:t>
            </a:r>
            <a:r>
              <a:rPr lang="en-US" sz="2400" dirty="0"/>
              <a:t> using computer vision and AI</a:t>
            </a:r>
          </a:p>
          <a:p>
            <a:pPr marL="342900" indent="-342900">
              <a:buFont typeface="Arial" panose="020B0604020202020204" pitchFamily="34" charset="0"/>
              <a:buChar char="•"/>
            </a:pPr>
            <a:r>
              <a:rPr lang="en-US" sz="2400" b="1" dirty="0"/>
              <a:t>Face recognition</a:t>
            </a:r>
            <a:r>
              <a:rPr lang="en-US" sz="2400" dirty="0"/>
              <a:t> to identify authorized employees</a:t>
            </a:r>
          </a:p>
          <a:p>
            <a:pPr marL="342900" indent="-342900">
              <a:buFont typeface="Arial" panose="020B0604020202020204" pitchFamily="34" charset="0"/>
              <a:buChar char="•"/>
            </a:pPr>
            <a:r>
              <a:rPr lang="en-US" sz="2400" b="1" dirty="0"/>
              <a:t>Intruder detection</a:t>
            </a:r>
            <a:r>
              <a:rPr lang="en-US" sz="2400" dirty="0"/>
              <a:t> for unknown or unauthorized individuals</a:t>
            </a:r>
          </a:p>
          <a:p>
            <a:pPr marL="342900" indent="-342900">
              <a:buFont typeface="Arial" panose="020B0604020202020204" pitchFamily="34" charset="0"/>
              <a:buChar char="•"/>
            </a:pPr>
            <a:r>
              <a:rPr lang="en-US" sz="2400" b="1" dirty="0"/>
              <a:t>Employee face enrollment</a:t>
            </a:r>
            <a:r>
              <a:rPr lang="en-US" sz="2400" dirty="0"/>
              <a:t> and secure data storage</a:t>
            </a:r>
          </a:p>
          <a:p>
            <a:pPr marL="342900" indent="-342900">
              <a:buFont typeface="Arial" panose="020B0604020202020204" pitchFamily="34" charset="0"/>
              <a:buChar char="•"/>
            </a:pPr>
            <a:r>
              <a:rPr lang="en-US" sz="2400" b="1" dirty="0"/>
              <a:t>Dress code detection</a:t>
            </a:r>
            <a:r>
              <a:rPr lang="en-US" sz="2400" dirty="0"/>
              <a:t> (e.g., shirt / T-shirt classification)</a:t>
            </a:r>
          </a:p>
          <a:p>
            <a:pPr marL="342900" indent="-342900">
              <a:buFont typeface="Arial" panose="020B0604020202020204" pitchFamily="34" charset="0"/>
              <a:buChar char="•"/>
            </a:pPr>
            <a:r>
              <a:rPr lang="en-US" sz="2400" b="1" dirty="0"/>
              <a:t>ID card presence detection</a:t>
            </a:r>
            <a:r>
              <a:rPr lang="en-US" sz="2400" dirty="0"/>
              <a:t> (visual check only)</a:t>
            </a:r>
          </a:p>
          <a:p>
            <a:pPr marL="342900" indent="-342900">
              <a:buFont typeface="Arial" panose="020B0604020202020204" pitchFamily="34" charset="0"/>
              <a:buChar char="•"/>
            </a:pPr>
            <a:r>
              <a:rPr lang="en-US" sz="2400" b="1" dirty="0"/>
              <a:t>Real-time monitoring</a:t>
            </a:r>
            <a:r>
              <a:rPr lang="en-US" sz="2400" dirty="0"/>
              <a:t> using camera feed</a:t>
            </a:r>
          </a:p>
          <a:p>
            <a:pPr marL="342900" indent="-342900">
              <a:buFont typeface="Arial" panose="020B0604020202020204" pitchFamily="34" charset="0"/>
              <a:buChar char="•"/>
            </a:pPr>
            <a:r>
              <a:rPr lang="en-US" sz="2400" b="1" dirty="0"/>
              <a:t>Automatic alerts and logging</a:t>
            </a:r>
            <a:r>
              <a:rPr lang="en-US" sz="2400" dirty="0"/>
              <a:t> of intruder events</a:t>
            </a:r>
          </a:p>
          <a:p>
            <a:pPr marL="342900" indent="-342900">
              <a:buFont typeface="Arial" panose="020B0604020202020204" pitchFamily="34" charset="0"/>
              <a:buChar char="•"/>
            </a:pPr>
            <a:r>
              <a:rPr lang="en-US" sz="2400" b="1" dirty="0"/>
              <a:t>Windows-based application</a:t>
            </a:r>
            <a:r>
              <a:rPr lang="en-US" sz="2400" dirty="0"/>
              <a:t> with user-friendly GUI</a:t>
            </a:r>
          </a:p>
          <a:p>
            <a:pPr marL="342900" indent="-342900">
              <a:buFont typeface="Arial" panose="020B0604020202020204" pitchFamily="34" charset="0"/>
              <a:buChar char="•"/>
            </a:pPr>
            <a:r>
              <a:rPr lang="en-US" sz="2400" b="1" dirty="0"/>
              <a:t>Offline, cost-effective, and scalable</a:t>
            </a:r>
            <a:r>
              <a:rPr lang="en-US" sz="2400" dirty="0"/>
              <a:t> solution</a:t>
            </a:r>
          </a:p>
        </p:txBody>
      </p:sp>
    </p:spTree>
    <p:extLst>
      <p:ext uri="{BB962C8B-B14F-4D97-AF65-F5344CB8AC3E}">
        <p14:creationId xmlns:p14="http://schemas.microsoft.com/office/powerpoint/2010/main" val="18249047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50D6E-D780-65FF-4C6F-2656A87AFE2E}"/>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B891EE0-72CA-F9A1-FB44-C5F4480184C1}"/>
              </a:ext>
            </a:extLst>
          </p:cNvPr>
          <p:cNvSpPr/>
          <p:nvPr/>
        </p:nvSpPr>
        <p:spPr>
          <a:xfrm>
            <a:off x="5619965" y="976041"/>
            <a:ext cx="2917860" cy="1212353"/>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r>
              <a:rPr lang="ml-IN" dirty="0"/>
              <a:t>Main UI</a:t>
            </a:r>
            <a:endParaRPr lang="en-IN" dirty="0"/>
          </a:p>
        </p:txBody>
      </p:sp>
      <p:sp>
        <p:nvSpPr>
          <p:cNvPr id="4" name="Rectangle: Rounded Corners 3">
            <a:extLst>
              <a:ext uri="{FF2B5EF4-FFF2-40B4-BE49-F238E27FC236}">
                <a16:creationId xmlns:a16="http://schemas.microsoft.com/office/drawing/2014/main" id="{BB5413EA-795F-DE5E-5F21-7A1E92DD81E1}"/>
              </a:ext>
            </a:extLst>
          </p:cNvPr>
          <p:cNvSpPr/>
          <p:nvPr/>
        </p:nvSpPr>
        <p:spPr>
          <a:xfrm>
            <a:off x="7037798" y="1664413"/>
            <a:ext cx="1421258" cy="44178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ml-IN" dirty="0"/>
              <a:t>Re analyse</a:t>
            </a:r>
            <a:endParaRPr lang="en-IN" dirty="0"/>
          </a:p>
        </p:txBody>
      </p:sp>
      <p:sp>
        <p:nvSpPr>
          <p:cNvPr id="5" name="Rectangle: Rounded Corners 4">
            <a:extLst>
              <a:ext uri="{FF2B5EF4-FFF2-40B4-BE49-F238E27FC236}">
                <a16:creationId xmlns:a16="http://schemas.microsoft.com/office/drawing/2014/main" id="{C50C67CC-7122-5578-7F3A-BF01F16EB739}"/>
              </a:ext>
            </a:extLst>
          </p:cNvPr>
          <p:cNvSpPr/>
          <p:nvPr/>
        </p:nvSpPr>
        <p:spPr>
          <a:xfrm>
            <a:off x="7037798" y="1099333"/>
            <a:ext cx="1421258" cy="44178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ml-IN" dirty="0"/>
              <a:t>Live</a:t>
            </a:r>
            <a:endParaRPr lang="en-IN" dirty="0"/>
          </a:p>
        </p:txBody>
      </p:sp>
      <p:sp>
        <p:nvSpPr>
          <p:cNvPr id="6" name="Rectangle: Rounded Corners 5">
            <a:extLst>
              <a:ext uri="{FF2B5EF4-FFF2-40B4-BE49-F238E27FC236}">
                <a16:creationId xmlns:a16="http://schemas.microsoft.com/office/drawing/2014/main" id="{A5279D73-8CB3-986F-8E6B-923C24129ED5}"/>
              </a:ext>
            </a:extLst>
          </p:cNvPr>
          <p:cNvSpPr/>
          <p:nvPr/>
        </p:nvSpPr>
        <p:spPr>
          <a:xfrm>
            <a:off x="2833956" y="976042"/>
            <a:ext cx="1738044" cy="44178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ml-IN" dirty="0"/>
              <a:t>Authentication</a:t>
            </a:r>
            <a:endParaRPr lang="en-IN" dirty="0"/>
          </a:p>
        </p:txBody>
      </p:sp>
      <p:sp>
        <p:nvSpPr>
          <p:cNvPr id="7" name="Rectangle: Rounded Corners 6">
            <a:extLst>
              <a:ext uri="{FF2B5EF4-FFF2-40B4-BE49-F238E27FC236}">
                <a16:creationId xmlns:a16="http://schemas.microsoft.com/office/drawing/2014/main" id="{2AA0BAB9-8D41-C08D-1D76-B1B419960255}"/>
              </a:ext>
            </a:extLst>
          </p:cNvPr>
          <p:cNvSpPr/>
          <p:nvPr/>
        </p:nvSpPr>
        <p:spPr>
          <a:xfrm>
            <a:off x="5712431" y="2607920"/>
            <a:ext cx="2825393" cy="75172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ml-IN" dirty="0"/>
              <a:t>V</a:t>
            </a:r>
            <a:r>
              <a:rPr lang="en-IN" dirty="0" err="1"/>
              <a:t>i</a:t>
            </a:r>
            <a:r>
              <a:rPr lang="ml-IN" dirty="0"/>
              <a:t>deo Proccessor</a:t>
            </a:r>
            <a:endParaRPr lang="en-IN" dirty="0"/>
          </a:p>
        </p:txBody>
      </p:sp>
      <p:sp>
        <p:nvSpPr>
          <p:cNvPr id="9" name="Rectangle: Rounded Corners 8">
            <a:extLst>
              <a:ext uri="{FF2B5EF4-FFF2-40B4-BE49-F238E27FC236}">
                <a16:creationId xmlns:a16="http://schemas.microsoft.com/office/drawing/2014/main" id="{8D9910D9-9713-7AD7-08FB-ECAFE6795A7F}"/>
              </a:ext>
            </a:extLst>
          </p:cNvPr>
          <p:cNvSpPr/>
          <p:nvPr/>
        </p:nvSpPr>
        <p:spPr>
          <a:xfrm>
            <a:off x="9195369" y="2607919"/>
            <a:ext cx="1479479" cy="75172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dirty="0"/>
              <a:t>C</a:t>
            </a:r>
            <a:r>
              <a:rPr lang="ml-IN" dirty="0"/>
              <a:t>ache /</a:t>
            </a:r>
          </a:p>
          <a:p>
            <a:pPr algn="ctr"/>
            <a:r>
              <a:rPr lang="en-IN" dirty="0"/>
              <a:t>T</a:t>
            </a:r>
            <a:r>
              <a:rPr lang="ml-IN" dirty="0"/>
              <a:t>emp data storage</a:t>
            </a:r>
            <a:endParaRPr lang="en-IN" dirty="0"/>
          </a:p>
        </p:txBody>
      </p:sp>
      <p:sp>
        <p:nvSpPr>
          <p:cNvPr id="10" name="Rectangle: Rounded Corners 9">
            <a:extLst>
              <a:ext uri="{FF2B5EF4-FFF2-40B4-BE49-F238E27FC236}">
                <a16:creationId xmlns:a16="http://schemas.microsoft.com/office/drawing/2014/main" id="{208F7036-5132-0E00-F86D-18E17BC98896}"/>
              </a:ext>
            </a:extLst>
          </p:cNvPr>
          <p:cNvSpPr/>
          <p:nvPr/>
        </p:nvSpPr>
        <p:spPr>
          <a:xfrm>
            <a:off x="9195369" y="3738080"/>
            <a:ext cx="1479479" cy="75172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ml-IN" dirty="0"/>
              <a:t>D</a:t>
            </a:r>
            <a:r>
              <a:rPr lang="en-IN" dirty="0"/>
              <a:t>a</a:t>
            </a:r>
            <a:r>
              <a:rPr lang="ml-IN" dirty="0"/>
              <a:t>ta model/</a:t>
            </a:r>
          </a:p>
          <a:p>
            <a:pPr algn="ctr"/>
            <a:r>
              <a:rPr lang="ml-IN" dirty="0"/>
              <a:t>User datas</a:t>
            </a:r>
            <a:endParaRPr lang="en-IN" dirty="0"/>
          </a:p>
        </p:txBody>
      </p:sp>
      <p:sp>
        <p:nvSpPr>
          <p:cNvPr id="11" name="Rectangle: Rounded Corners 10">
            <a:extLst>
              <a:ext uri="{FF2B5EF4-FFF2-40B4-BE49-F238E27FC236}">
                <a16:creationId xmlns:a16="http://schemas.microsoft.com/office/drawing/2014/main" id="{C52B9738-270D-860C-01CB-A76FDDA08494}"/>
              </a:ext>
            </a:extLst>
          </p:cNvPr>
          <p:cNvSpPr/>
          <p:nvPr/>
        </p:nvSpPr>
        <p:spPr>
          <a:xfrm>
            <a:off x="5712432" y="4868240"/>
            <a:ext cx="1479479" cy="75172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ml-IN" dirty="0"/>
              <a:t>output</a:t>
            </a:r>
            <a:endParaRPr lang="en-IN" dirty="0"/>
          </a:p>
        </p:txBody>
      </p:sp>
      <p:sp>
        <p:nvSpPr>
          <p:cNvPr id="12" name="Rectangle: Rounded Corners 11">
            <a:extLst>
              <a:ext uri="{FF2B5EF4-FFF2-40B4-BE49-F238E27FC236}">
                <a16:creationId xmlns:a16="http://schemas.microsoft.com/office/drawing/2014/main" id="{47CF3375-FDC9-2F37-24E5-ABBEE01FD4D1}"/>
              </a:ext>
            </a:extLst>
          </p:cNvPr>
          <p:cNvSpPr/>
          <p:nvPr/>
        </p:nvSpPr>
        <p:spPr>
          <a:xfrm>
            <a:off x="7517259" y="5284345"/>
            <a:ext cx="1171254" cy="44178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ml-IN" dirty="0"/>
              <a:t>Log data</a:t>
            </a:r>
            <a:endParaRPr lang="en-IN" dirty="0"/>
          </a:p>
        </p:txBody>
      </p:sp>
      <p:sp>
        <p:nvSpPr>
          <p:cNvPr id="13" name="Rectangle: Rounded Corners 12">
            <a:extLst>
              <a:ext uri="{FF2B5EF4-FFF2-40B4-BE49-F238E27FC236}">
                <a16:creationId xmlns:a16="http://schemas.microsoft.com/office/drawing/2014/main" id="{D13EC508-715A-FF2D-081F-EB5F6EC38B28}"/>
              </a:ext>
            </a:extLst>
          </p:cNvPr>
          <p:cNvSpPr/>
          <p:nvPr/>
        </p:nvSpPr>
        <p:spPr>
          <a:xfrm>
            <a:off x="7500135" y="4825428"/>
            <a:ext cx="1571943" cy="44178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ml-IN" dirty="0"/>
              <a:t>V</a:t>
            </a:r>
            <a:r>
              <a:rPr lang="en-IN" dirty="0" err="1"/>
              <a:t>i</a:t>
            </a:r>
            <a:r>
              <a:rPr lang="ml-IN" dirty="0"/>
              <a:t>deo output</a:t>
            </a:r>
            <a:endParaRPr lang="en-IN" dirty="0"/>
          </a:p>
        </p:txBody>
      </p:sp>
      <p:sp>
        <p:nvSpPr>
          <p:cNvPr id="2" name="Rectangle: Rounded Corners 1">
            <a:extLst>
              <a:ext uri="{FF2B5EF4-FFF2-40B4-BE49-F238E27FC236}">
                <a16:creationId xmlns:a16="http://schemas.microsoft.com/office/drawing/2014/main" id="{49EC316B-DE98-F39F-C9B9-F3F206ADEC06}"/>
              </a:ext>
            </a:extLst>
          </p:cNvPr>
          <p:cNvSpPr/>
          <p:nvPr/>
        </p:nvSpPr>
        <p:spPr>
          <a:xfrm>
            <a:off x="5712431" y="3738079"/>
            <a:ext cx="2825393" cy="75172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IN" dirty="0"/>
              <a:t>V</a:t>
            </a:r>
            <a:r>
              <a:rPr lang="ml-IN" dirty="0"/>
              <a:t>ideo Analyser</a:t>
            </a:r>
            <a:endParaRPr lang="en-IN" dirty="0"/>
          </a:p>
        </p:txBody>
      </p:sp>
      <p:cxnSp>
        <p:nvCxnSpPr>
          <p:cNvPr id="14" name="Straight Arrow Connector 13">
            <a:extLst>
              <a:ext uri="{FF2B5EF4-FFF2-40B4-BE49-F238E27FC236}">
                <a16:creationId xmlns:a16="http://schemas.microsoft.com/office/drawing/2014/main" id="{4E1EFC3C-0ABD-0374-3197-E313982BF4D2}"/>
              </a:ext>
            </a:extLst>
          </p:cNvPr>
          <p:cNvCxnSpPr>
            <a:cxnSpLocks/>
            <a:endCxn id="5" idx="3"/>
          </p:cNvCxnSpPr>
          <p:nvPr/>
        </p:nvCxnSpPr>
        <p:spPr>
          <a:xfrm flipH="1">
            <a:off x="8459056" y="1320228"/>
            <a:ext cx="10034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6313D31-D90A-2BC0-2ECB-5924A0CAF83D}"/>
              </a:ext>
            </a:extLst>
          </p:cNvPr>
          <p:cNvCxnSpPr>
            <a:cxnSpLocks/>
          </p:cNvCxnSpPr>
          <p:nvPr/>
        </p:nvCxnSpPr>
        <p:spPr>
          <a:xfrm flipH="1">
            <a:off x="8459056" y="1893868"/>
            <a:ext cx="10034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119E0C4-9D25-E7C2-2A9A-94CE3D53BEF8}"/>
              </a:ext>
            </a:extLst>
          </p:cNvPr>
          <p:cNvSpPr txBox="1"/>
          <p:nvPr/>
        </p:nvSpPr>
        <p:spPr>
          <a:xfrm>
            <a:off x="9462499" y="940957"/>
            <a:ext cx="2116475" cy="1200329"/>
          </a:xfrm>
          <a:prstGeom prst="rect">
            <a:avLst/>
          </a:prstGeom>
          <a:noFill/>
        </p:spPr>
        <p:txBody>
          <a:bodyPr wrap="square" rtlCol="0">
            <a:spAutoFit/>
          </a:bodyPr>
          <a:lstStyle/>
          <a:p>
            <a:r>
              <a:rPr lang="en-IN" dirty="0"/>
              <a:t>L</a:t>
            </a:r>
            <a:r>
              <a:rPr lang="ml-IN" dirty="0"/>
              <a:t>ive  Feed from Input</a:t>
            </a:r>
          </a:p>
          <a:p>
            <a:endParaRPr lang="ml-IN" dirty="0"/>
          </a:p>
          <a:p>
            <a:r>
              <a:rPr lang="ml-IN" dirty="0"/>
              <a:t>Exisiting Video</a:t>
            </a:r>
            <a:endParaRPr lang="en-IN" dirty="0"/>
          </a:p>
        </p:txBody>
      </p:sp>
      <p:cxnSp>
        <p:nvCxnSpPr>
          <p:cNvPr id="21" name="Connector: Curved 20">
            <a:extLst>
              <a:ext uri="{FF2B5EF4-FFF2-40B4-BE49-F238E27FC236}">
                <a16:creationId xmlns:a16="http://schemas.microsoft.com/office/drawing/2014/main" id="{21121215-B167-F5B1-E39C-C217D795C95E}"/>
              </a:ext>
            </a:extLst>
          </p:cNvPr>
          <p:cNvCxnSpPr>
            <a:stCxn id="6" idx="3"/>
            <a:endCxn id="8" idx="1"/>
          </p:cNvCxnSpPr>
          <p:nvPr/>
        </p:nvCxnSpPr>
        <p:spPr>
          <a:xfrm>
            <a:off x="4572000" y="1196937"/>
            <a:ext cx="1047965" cy="38528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4F8CB4C-8652-C86B-DFD0-AE03E9A7C947}"/>
              </a:ext>
            </a:extLst>
          </p:cNvPr>
          <p:cNvCxnSpPr>
            <a:cxnSpLocks/>
            <a:stCxn id="8" idx="2"/>
          </p:cNvCxnSpPr>
          <p:nvPr/>
        </p:nvCxnSpPr>
        <p:spPr>
          <a:xfrm>
            <a:off x="7078895" y="2188394"/>
            <a:ext cx="0" cy="378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0D16CD0-1BA0-46E2-382E-FB8F8B2A1738}"/>
              </a:ext>
            </a:extLst>
          </p:cNvPr>
          <p:cNvCxnSpPr>
            <a:cxnSpLocks/>
          </p:cNvCxnSpPr>
          <p:nvPr/>
        </p:nvCxnSpPr>
        <p:spPr>
          <a:xfrm>
            <a:off x="6452171" y="4489810"/>
            <a:ext cx="0" cy="378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0B05BC4-736B-B0B0-B0C3-F47F6B97422E}"/>
              </a:ext>
            </a:extLst>
          </p:cNvPr>
          <p:cNvCxnSpPr>
            <a:cxnSpLocks/>
          </p:cNvCxnSpPr>
          <p:nvPr/>
        </p:nvCxnSpPr>
        <p:spPr>
          <a:xfrm>
            <a:off x="7191911" y="5063451"/>
            <a:ext cx="3253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9F5E50B-94D6-4788-FD5D-9F1A5DB65CA8}"/>
              </a:ext>
            </a:extLst>
          </p:cNvPr>
          <p:cNvCxnSpPr>
            <a:cxnSpLocks/>
          </p:cNvCxnSpPr>
          <p:nvPr/>
        </p:nvCxnSpPr>
        <p:spPr>
          <a:xfrm>
            <a:off x="8537824" y="3018033"/>
            <a:ext cx="5342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5F3F94F5-FEFD-9B66-AF6C-A0C2F7715A42}"/>
              </a:ext>
            </a:extLst>
          </p:cNvPr>
          <p:cNvCxnSpPr>
            <a:cxnSpLocks/>
          </p:cNvCxnSpPr>
          <p:nvPr/>
        </p:nvCxnSpPr>
        <p:spPr>
          <a:xfrm flipH="1">
            <a:off x="8589194" y="4125930"/>
            <a:ext cx="6061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nector: Curved 37">
            <a:extLst>
              <a:ext uri="{FF2B5EF4-FFF2-40B4-BE49-F238E27FC236}">
                <a16:creationId xmlns:a16="http://schemas.microsoft.com/office/drawing/2014/main" id="{DEB2A313-5F19-3406-237F-911DA41C5961}"/>
              </a:ext>
            </a:extLst>
          </p:cNvPr>
          <p:cNvCxnSpPr>
            <a:stCxn id="9" idx="2"/>
            <a:endCxn id="2" idx="0"/>
          </p:cNvCxnSpPr>
          <p:nvPr/>
        </p:nvCxnSpPr>
        <p:spPr>
          <a:xfrm rot="5400000">
            <a:off x="8340904" y="2143873"/>
            <a:ext cx="378431" cy="280998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10218E1-D89C-5D9E-DAE6-88D5475FA9F8}"/>
              </a:ext>
            </a:extLst>
          </p:cNvPr>
          <p:cNvCxnSpPr>
            <a:cxnSpLocks/>
          </p:cNvCxnSpPr>
          <p:nvPr/>
        </p:nvCxnSpPr>
        <p:spPr>
          <a:xfrm>
            <a:off x="7191911" y="5493254"/>
            <a:ext cx="3253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4587E178-1C4D-5CCC-4212-A45B5F25BD71}"/>
              </a:ext>
            </a:extLst>
          </p:cNvPr>
          <p:cNvSpPr txBox="1"/>
          <p:nvPr/>
        </p:nvSpPr>
        <p:spPr>
          <a:xfrm>
            <a:off x="337441" y="294624"/>
            <a:ext cx="3990975" cy="646331"/>
          </a:xfrm>
          <a:prstGeom prst="rect">
            <a:avLst/>
          </a:prstGeom>
          <a:noFill/>
        </p:spPr>
        <p:txBody>
          <a:bodyPr wrap="square" rtlCol="0">
            <a:spAutoFit/>
          </a:bodyPr>
          <a:lstStyle/>
          <a:p>
            <a:r>
              <a:rPr lang="ml-IN" sz="3600" b="1" dirty="0"/>
              <a:t>FLOW CHART</a:t>
            </a:r>
            <a:endParaRPr lang="en-IN" sz="3600" b="1" dirty="0"/>
          </a:p>
        </p:txBody>
      </p:sp>
    </p:spTree>
    <p:extLst>
      <p:ext uri="{BB962C8B-B14F-4D97-AF65-F5344CB8AC3E}">
        <p14:creationId xmlns:p14="http://schemas.microsoft.com/office/powerpoint/2010/main" val="18177240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10F9B-6D3F-C908-F1DD-D48191D8FDA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D07745B-961C-A167-9ADD-03621E70B4AC}"/>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16700501" y="-11622881"/>
            <a:ext cx="32854901" cy="18480881"/>
          </a:xfrm>
          <a:prstGeom prst="rect">
            <a:avLst/>
          </a:prstGeom>
        </p:spPr>
      </p:pic>
      <p:sp>
        <p:nvSpPr>
          <p:cNvPr id="4" name="TextBox 3">
            <a:extLst>
              <a:ext uri="{FF2B5EF4-FFF2-40B4-BE49-F238E27FC236}">
                <a16:creationId xmlns:a16="http://schemas.microsoft.com/office/drawing/2014/main" id="{7AD5E69B-030B-1C91-0D8E-94AFE4EEAE62}"/>
              </a:ext>
            </a:extLst>
          </p:cNvPr>
          <p:cNvSpPr txBox="1"/>
          <p:nvPr/>
        </p:nvSpPr>
        <p:spPr>
          <a:xfrm>
            <a:off x="542924" y="895350"/>
            <a:ext cx="7696201" cy="1200329"/>
          </a:xfrm>
          <a:prstGeom prst="rect">
            <a:avLst/>
          </a:prstGeom>
          <a:noFill/>
        </p:spPr>
        <p:txBody>
          <a:bodyPr wrap="square" rtlCol="0">
            <a:spAutoFit/>
          </a:bodyPr>
          <a:lstStyle/>
          <a:p>
            <a:r>
              <a:rPr lang="en-US" sz="3600" b="1" dirty="0"/>
              <a:t>Usage of Project in Real-Time Environment</a:t>
            </a:r>
          </a:p>
        </p:txBody>
      </p:sp>
      <p:sp>
        <p:nvSpPr>
          <p:cNvPr id="5" name="TextBox 4">
            <a:extLst>
              <a:ext uri="{FF2B5EF4-FFF2-40B4-BE49-F238E27FC236}">
                <a16:creationId xmlns:a16="http://schemas.microsoft.com/office/drawing/2014/main" id="{89258D84-9B35-FB70-463B-624804AB826C}"/>
              </a:ext>
            </a:extLst>
          </p:cNvPr>
          <p:cNvSpPr txBox="1"/>
          <p:nvPr/>
        </p:nvSpPr>
        <p:spPr>
          <a:xfrm>
            <a:off x="542925" y="2413337"/>
            <a:ext cx="11477625"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Office &amp; Corporate Buildings – Automated employee identification and intruder detection</a:t>
            </a:r>
          </a:p>
          <a:p>
            <a:pPr marL="342900" indent="-342900">
              <a:buFont typeface="Arial" panose="020B0604020202020204" pitchFamily="34" charset="0"/>
              <a:buChar char="•"/>
            </a:pPr>
            <a:r>
              <a:rPr lang="en-US" sz="2400" dirty="0"/>
              <a:t>Restricted Areas – Labs, data centers, server rooms, and control rooms</a:t>
            </a:r>
          </a:p>
          <a:p>
            <a:pPr marL="342900" indent="-342900">
              <a:buFont typeface="Arial" panose="020B0604020202020204" pitchFamily="34" charset="0"/>
              <a:buChar char="•"/>
            </a:pPr>
            <a:r>
              <a:rPr lang="en-US" sz="2400" dirty="0"/>
              <a:t>Educational Institutions – Secure access to staff-only zones</a:t>
            </a:r>
          </a:p>
          <a:p>
            <a:pPr marL="342900" indent="-342900">
              <a:buFont typeface="Arial" panose="020B0604020202020204" pitchFamily="34" charset="0"/>
              <a:buChar char="•"/>
            </a:pPr>
            <a:r>
              <a:rPr lang="en-US" sz="2400" dirty="0"/>
              <a:t>Industrial Facilities – Monitoring entry compliance with dress code rules</a:t>
            </a:r>
          </a:p>
          <a:p>
            <a:pPr marL="342900" indent="-342900">
              <a:buFont typeface="Arial" panose="020B0604020202020204" pitchFamily="34" charset="0"/>
              <a:buChar char="•"/>
            </a:pPr>
            <a:r>
              <a:rPr lang="en-US" sz="2400" dirty="0"/>
              <a:t>Hospitals &amp; Research Centers – Controlled access to sensitive departments</a:t>
            </a:r>
          </a:p>
          <a:p>
            <a:pPr marL="342900" indent="-342900">
              <a:buFont typeface="Arial" panose="020B0604020202020204" pitchFamily="34" charset="0"/>
              <a:buChar char="•"/>
            </a:pPr>
            <a:r>
              <a:rPr lang="en-US" sz="2400" dirty="0"/>
              <a:t>Government Offices – Enhanced security with minimal human supervision</a:t>
            </a:r>
          </a:p>
          <a:p>
            <a:pPr marL="342900" indent="-342900">
              <a:buFont typeface="Arial" panose="020B0604020202020204" pitchFamily="34" charset="0"/>
              <a:buChar char="•"/>
            </a:pPr>
            <a:r>
              <a:rPr lang="en-US" sz="2400" dirty="0"/>
              <a:t>Small &amp; Medium Enterprises (SMEs) – Cost-effective offline security solution</a:t>
            </a:r>
          </a:p>
          <a:p>
            <a:pPr marL="342900" indent="-342900">
              <a:buFont typeface="Arial" panose="020B0604020202020204" pitchFamily="34" charset="0"/>
              <a:buChar char="•"/>
            </a:pPr>
            <a:r>
              <a:rPr lang="en-US" sz="2400" dirty="0"/>
              <a:t>Attendance &amp; Monitoring Support – Employee presence verification</a:t>
            </a:r>
          </a:p>
          <a:p>
            <a:pPr marL="342900" indent="-342900">
              <a:buFont typeface="Arial" panose="020B0604020202020204" pitchFamily="34" charset="0"/>
              <a:buChar char="•"/>
            </a:pPr>
            <a:r>
              <a:rPr lang="en-US" sz="2400" dirty="0"/>
              <a:t>Security Auditing – Intruder image capture and event logging</a:t>
            </a:r>
          </a:p>
        </p:txBody>
      </p:sp>
    </p:spTree>
    <p:extLst>
      <p:ext uri="{BB962C8B-B14F-4D97-AF65-F5344CB8AC3E}">
        <p14:creationId xmlns:p14="http://schemas.microsoft.com/office/powerpoint/2010/main" val="1210158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0"/>
          <p:cNvGraphicFramePr>
            <a:graphicFrameLocks noGrp="1"/>
          </p:cNvGraphicFramePr>
          <p:nvPr>
            <p:extLst>
              <p:ext uri="{D42A27DB-BD31-4B8C-83A1-F6EECF244321}">
                <p14:modId xmlns:p14="http://schemas.microsoft.com/office/powerpoint/2010/main" val="2254763798"/>
              </p:ext>
            </p:extLst>
          </p:nvPr>
        </p:nvGraphicFramePr>
        <p:xfrm>
          <a:off x="295422" y="886264"/>
          <a:ext cx="11601156" cy="5774272"/>
        </p:xfrm>
        <a:graphic>
          <a:graphicData uri="http://schemas.openxmlformats.org/drawingml/2006/table">
            <a:tbl>
              <a:tblPr>
                <a:tableStyleId>{5202B0CA-FC54-4496-8BCA-5EF66A818D29}</a:tableStyleId>
              </a:tblPr>
              <a:tblGrid>
                <a:gridCol w="3867052">
                  <a:extLst>
                    <a:ext uri="{9D8B030D-6E8A-4147-A177-3AD203B41FA5}">
                      <a16:colId xmlns:a16="http://schemas.microsoft.com/office/drawing/2014/main" val="20000"/>
                    </a:ext>
                  </a:extLst>
                </a:gridCol>
                <a:gridCol w="3867052">
                  <a:extLst>
                    <a:ext uri="{9D8B030D-6E8A-4147-A177-3AD203B41FA5}">
                      <a16:colId xmlns:a16="http://schemas.microsoft.com/office/drawing/2014/main" val="20001"/>
                    </a:ext>
                  </a:extLst>
                </a:gridCol>
                <a:gridCol w="3867052">
                  <a:extLst>
                    <a:ext uri="{9D8B030D-6E8A-4147-A177-3AD203B41FA5}">
                      <a16:colId xmlns:a16="http://schemas.microsoft.com/office/drawing/2014/main" val="20002"/>
                    </a:ext>
                  </a:extLst>
                </a:gridCol>
              </a:tblGrid>
              <a:tr h="1149996">
                <a:tc>
                  <a:txBody>
                    <a:bodyPr/>
                    <a:lstStyle/>
                    <a:p>
                      <a:pPr marL="0" indent="0" algn="ctr">
                        <a:buNone/>
                      </a:pPr>
                      <a:r>
                        <a:rPr lang="en-US" sz="1500" b="1" dirty="0">
                          <a:solidFill>
                            <a:sysClr val="windowText" lastClr="000000"/>
                          </a:solidFill>
                        </a:rPr>
                        <a:t>Doc ID / Link</a:t>
                      </a:r>
                      <a:endParaRPr lang="en-US" sz="15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b="1">
                          <a:solidFill>
                            <a:sysClr val="windowText" lastClr="000000"/>
                          </a:solidFill>
                        </a:rPr>
                        <a:t>Abstract</a:t>
                      </a:r>
                      <a:endParaRPr lang="en-US" sz="15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None/>
                      </a:pPr>
                      <a:r>
                        <a:rPr lang="en-US" sz="1500" b="1">
                          <a:solidFill>
                            <a:sysClr val="windowText" lastClr="000000"/>
                          </a:solidFill>
                        </a:rPr>
                        <a:t>Additional Notes</a:t>
                      </a:r>
                      <a:endParaRPr lang="en-US" sz="15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162142">
                <a:tc>
                  <a:txBody>
                    <a:bodyPr/>
                    <a:lstStyle/>
                    <a:p>
                      <a:pPr marL="0" indent="0" algn="l">
                        <a:buNone/>
                      </a:pPr>
                      <a:r>
                        <a:rPr lang="en-US" sz="1500">
                          <a:solidFill>
                            <a:sysClr val="windowText" lastClr="000000"/>
                          </a:solidFill>
                        </a:rPr>
                        <a:t>2019_IEEE-ANTShttps://dspace.nitrkl.ac.in</a:t>
                      </a:r>
                      <a:endParaRPr lang="en-US" sz="15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a:solidFill>
                            <a:sysClr val="windowText" lastClr="000000"/>
                          </a:solidFill>
                        </a:rPr>
                        <a:t>Video-based real-time intrusion detection system using deep learning methods (YOLO, SORT) on edge devices for automated surveillance and intruder alerts.</a:t>
                      </a:r>
                      <a:endParaRPr lang="en-US" sz="15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400">
                          <a:solidFill>
                            <a:sysClr val="windowText" lastClr="000000"/>
                          </a:solidFill>
                        </a:rPr>
                        <a:t>⭐ Most Relevant:Directly combines video processing + intrusion detection. Uses YOLO for object detection and SORT for multi-object tracking. Real-time edge device implementation.</a:t>
                      </a:r>
                      <a:endParaRPr lang="en-US" sz="14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149996">
                <a:tc>
                  <a:txBody>
                    <a:bodyPr/>
                    <a:lstStyle/>
                    <a:p>
                      <a:pPr marL="0" indent="0" algn="l">
                        <a:buNone/>
                      </a:pPr>
                      <a:r>
                        <a:rPr lang="en-US" sz="1500">
                          <a:solidFill>
                            <a:sysClr val="windowText" lastClr="000000"/>
                          </a:solidFill>
                        </a:rPr>
                        <a:t>IEEE-7852676ieeexplore.ieee.org</a:t>
                      </a:r>
                      <a:endParaRPr lang="en-US" sz="15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a:solidFill>
                            <a:sysClr val="windowText" lastClr="000000"/>
                          </a:solidFill>
                        </a:rPr>
                        <a:t>Intrusion detection of specific area based on video using Gaussian Mixture Model (GMM) improvements for background subtraction and object detection/tracking.</a:t>
                      </a:r>
                      <a:endParaRPr lang="en-US" sz="15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400">
                          <a:solidFill>
                            <a:sysClr val="windowText" lastClr="000000"/>
                          </a:solidFill>
                        </a:rPr>
                        <a:t>⭐ Highly Relevant:Uses GMM for background modeling. Area-specific detection. Good for region-based intrusion alerts in surveillance zones.</a:t>
                      </a:r>
                      <a:endParaRPr lang="en-US" sz="14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162142">
                <a:tc>
                  <a:txBody>
                    <a:bodyPr/>
                    <a:lstStyle/>
                    <a:p>
                      <a:pPr marL="0" indent="0" algn="l">
                        <a:buNone/>
                      </a:pPr>
                      <a:r>
                        <a:rPr lang="en-US" sz="1500">
                          <a:solidFill>
                            <a:sysClr val="windowText" lastClr="000000"/>
                          </a:solidFill>
                        </a:rPr>
                        <a:t>IEEE-10134400ieeexplore.ieee.org</a:t>
                      </a:r>
                      <a:endParaRPr lang="en-US" sz="15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a:solidFill>
                            <a:sysClr val="windowText" lastClr="000000"/>
                          </a:solidFill>
                        </a:rPr>
                        <a:t>Intrusion detection using camera and alert management. Image processing with Sum of Absolute Difference (SAD), camera-based motion detection and automated alerting.</a:t>
                      </a:r>
                      <a:endParaRPr lang="en-US" sz="15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400">
                          <a:solidFill>
                            <a:sysClr val="windowText" lastClr="000000"/>
                          </a:solidFill>
                        </a:rPr>
                        <a:t>Relevant:SAD method for motion detection. Good for simple frame-to-frame difference. Alert system integration.</a:t>
                      </a:r>
                      <a:endParaRPr lang="en-US" sz="14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1149996">
                <a:tc>
                  <a:txBody>
                    <a:bodyPr/>
                    <a:lstStyle/>
                    <a:p>
                      <a:pPr marL="0" indent="0" algn="l">
                        <a:buNone/>
                      </a:pPr>
                      <a:r>
                        <a:rPr lang="en-US" sz="1500">
                          <a:solidFill>
                            <a:sysClr val="windowText" lastClr="000000"/>
                          </a:solidFill>
                        </a:rPr>
                        <a:t>IEEE-10370984ieeexplore.ieee.org</a:t>
                      </a:r>
                      <a:endParaRPr lang="en-US" sz="15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500">
                          <a:solidFill>
                            <a:sysClr val="windowText" lastClr="000000"/>
                          </a:solidFill>
                        </a:rPr>
                        <a:t>Intelligent intruder detection system for surveillance rover using neural-network-based detection on mobile platform with autonomous movement capabilities.</a:t>
                      </a:r>
                      <a:endParaRPr lang="en-US" sz="15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buNone/>
                      </a:pPr>
                      <a:r>
                        <a:rPr lang="en-US" sz="1400" dirty="0" err="1">
                          <a:solidFill>
                            <a:sysClr val="windowText" lastClr="000000"/>
                          </a:solidFill>
                        </a:rPr>
                        <a:t>Advanced:Mobile</a:t>
                      </a:r>
                      <a:r>
                        <a:rPr lang="en-US" sz="1400" dirty="0">
                          <a:solidFill>
                            <a:sysClr val="windowText" lastClr="000000"/>
                          </a:solidFill>
                        </a:rPr>
                        <a:t>/drone-based detection. Neural networks for classification. Good for moving camera scenarios.</a:t>
                      </a:r>
                      <a:endParaRPr lang="en-US" sz="1400" dirty="0">
                        <a:solidFill>
                          <a:sysClr val="windowText" lastClr="000000"/>
                        </a:solidFill>
                        <a:latin typeface="Arial" charset="0"/>
                        <a:ea typeface="Arial" charset="0"/>
                        <a:cs typeface="Arial"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 name="Text 0"/>
          <p:cNvSpPr/>
          <p:nvPr/>
        </p:nvSpPr>
        <p:spPr>
          <a:xfrm>
            <a:off x="295422" y="197464"/>
            <a:ext cx="11412475" cy="548481"/>
          </a:xfrm>
          <a:prstGeom prst="rect">
            <a:avLst/>
          </a:prstGeom>
          <a:solidFill>
            <a:schemeClr val="bg1"/>
          </a:solidFill>
          <a:ln>
            <a:noFill/>
          </a:ln>
        </p:spPr>
        <p:txBody>
          <a:bodyPr wrap="square" lIns="0" tIns="0" rIns="0" bIns="0" rtlCol="0" anchor="t"/>
          <a:lstStyle/>
          <a:p>
            <a:pPr>
              <a:lnSpc>
                <a:spcPts val="4320"/>
              </a:lnSpc>
            </a:pPr>
            <a:r>
              <a:rPr lang="en-US" sz="3600" b="1" dirty="0">
                <a:solidFill>
                  <a:sysClr val="windowText" lastClr="000000"/>
                </a:solidFill>
                <a:latin typeface="Arial" pitchFamily="34" charset="0"/>
                <a:ea typeface="Arial" pitchFamily="34" charset="-122"/>
                <a:cs typeface="Arial" pitchFamily="34" charset="-120"/>
              </a:rPr>
              <a:t>Core Research Papers</a:t>
            </a:r>
            <a:endParaRPr lang="en-US" sz="3600" dirty="0">
              <a:solidFill>
                <a:sysClr val="windowText" lastClr="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528C2-D3F9-848A-BFD5-E79C0E0370B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859B5DA-1B60-E9E3-2BE0-57A1EC46AA9E}"/>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9023351" y="-11281350"/>
            <a:ext cx="32854901" cy="18480881"/>
          </a:xfrm>
          <a:prstGeom prst="rect">
            <a:avLst/>
          </a:prstGeom>
        </p:spPr>
      </p:pic>
      <p:sp>
        <p:nvSpPr>
          <p:cNvPr id="4" name="TextBox 3">
            <a:extLst>
              <a:ext uri="{FF2B5EF4-FFF2-40B4-BE49-F238E27FC236}">
                <a16:creationId xmlns:a16="http://schemas.microsoft.com/office/drawing/2014/main" id="{D07DF54C-955E-EA04-F70F-B5B8E480135A}"/>
              </a:ext>
            </a:extLst>
          </p:cNvPr>
          <p:cNvSpPr txBox="1"/>
          <p:nvPr/>
        </p:nvSpPr>
        <p:spPr>
          <a:xfrm>
            <a:off x="542924" y="895350"/>
            <a:ext cx="7696201" cy="646331"/>
          </a:xfrm>
          <a:prstGeom prst="rect">
            <a:avLst/>
          </a:prstGeom>
          <a:noFill/>
        </p:spPr>
        <p:txBody>
          <a:bodyPr wrap="square" rtlCol="0">
            <a:spAutoFit/>
          </a:bodyPr>
          <a:lstStyle/>
          <a:p>
            <a:r>
              <a:rPr lang="en-US" sz="3600" b="1" dirty="0"/>
              <a:t>Conclusion</a:t>
            </a:r>
          </a:p>
        </p:txBody>
      </p:sp>
      <p:sp>
        <p:nvSpPr>
          <p:cNvPr id="5" name="TextBox 4">
            <a:extLst>
              <a:ext uri="{FF2B5EF4-FFF2-40B4-BE49-F238E27FC236}">
                <a16:creationId xmlns:a16="http://schemas.microsoft.com/office/drawing/2014/main" id="{7F194F6D-419F-AE61-C79C-625A85E04755}"/>
              </a:ext>
            </a:extLst>
          </p:cNvPr>
          <p:cNvSpPr txBox="1"/>
          <p:nvPr/>
        </p:nvSpPr>
        <p:spPr>
          <a:xfrm>
            <a:off x="542925" y="2413337"/>
            <a:ext cx="11477625"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Developed an automated security system using computer vision and AI</a:t>
            </a:r>
          </a:p>
          <a:p>
            <a:pPr marL="342900" indent="-342900">
              <a:buFont typeface="Arial" panose="020B0604020202020204" pitchFamily="34" charset="0"/>
              <a:buChar char="•"/>
            </a:pPr>
            <a:r>
              <a:rPr lang="en-US" sz="2400" dirty="0"/>
              <a:t>Successfully integrates face recognition for employee identification</a:t>
            </a:r>
          </a:p>
          <a:p>
            <a:pPr marL="342900" indent="-342900">
              <a:buFont typeface="Arial" panose="020B0604020202020204" pitchFamily="34" charset="0"/>
              <a:buChar char="•"/>
            </a:pPr>
            <a:r>
              <a:rPr lang="en-US" sz="2400" dirty="0"/>
              <a:t>Detects intruders in real time with image logging</a:t>
            </a:r>
          </a:p>
          <a:p>
            <a:pPr marL="342900" indent="-342900">
              <a:buFont typeface="Arial" panose="020B0604020202020204" pitchFamily="34" charset="0"/>
              <a:buChar char="•"/>
            </a:pPr>
            <a:r>
              <a:rPr lang="en-US" sz="2400" dirty="0"/>
              <a:t>Verifies dress code compliance and ID card presence</a:t>
            </a:r>
          </a:p>
          <a:p>
            <a:pPr marL="342900" indent="-342900">
              <a:buFont typeface="Arial" panose="020B0604020202020204" pitchFamily="34" charset="0"/>
              <a:buChar char="•"/>
            </a:pPr>
            <a:r>
              <a:rPr lang="en-US" sz="2400" dirty="0"/>
              <a:t>Reduces dependency on manual monitoring</a:t>
            </a:r>
          </a:p>
          <a:p>
            <a:pPr marL="342900" indent="-342900">
              <a:buFont typeface="Arial" panose="020B0604020202020204" pitchFamily="34" charset="0"/>
              <a:buChar char="•"/>
            </a:pPr>
            <a:r>
              <a:rPr lang="en-US" sz="2400" dirty="0"/>
              <a:t>Works as an offline, cost-effective Windows application</a:t>
            </a:r>
          </a:p>
          <a:p>
            <a:pPr marL="342900" indent="-342900">
              <a:buFont typeface="Arial" panose="020B0604020202020204" pitchFamily="34" charset="0"/>
              <a:buChar char="•"/>
            </a:pPr>
            <a:r>
              <a:rPr lang="en-US" sz="2400" dirty="0"/>
              <a:t>Suitable for small to medium secure facilities</a:t>
            </a:r>
          </a:p>
          <a:p>
            <a:pPr marL="342900" indent="-342900">
              <a:buFont typeface="Arial" panose="020B0604020202020204" pitchFamily="34" charset="0"/>
              <a:buChar char="•"/>
            </a:pPr>
            <a:r>
              <a:rPr lang="en-US" sz="2400" dirty="0"/>
              <a:t>Can be extended with GPU acceleration, liveness detection, and multi-camera support</a:t>
            </a:r>
          </a:p>
          <a:p>
            <a:pPr marL="342900" indent="-342900">
              <a:buFont typeface="Arial" panose="020B0604020202020204" pitchFamily="34" charset="0"/>
              <a:buChar char="•"/>
            </a:pPr>
            <a:r>
              <a:rPr lang="en-US" sz="2400" dirty="0"/>
              <a:t>The proposed system enhances security by combining identity verification with compliance monitoring in real-time.</a:t>
            </a:r>
          </a:p>
        </p:txBody>
      </p:sp>
    </p:spTree>
    <p:extLst>
      <p:ext uri="{BB962C8B-B14F-4D97-AF65-F5344CB8AC3E}">
        <p14:creationId xmlns:p14="http://schemas.microsoft.com/office/powerpoint/2010/main" val="3480702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2DACD-0A6C-4A22-CE71-68984F98EB1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C68C648-3712-CF99-7588-FC7E8778839F}"/>
              </a:ext>
            </a:extLst>
          </p:cNvPr>
          <p:cNvPicPr>
            <a:picLocks noChangeAspect="1"/>
          </p:cNvPicPr>
          <p:nvPr/>
        </p:nvPicPr>
        <p:blipFill>
          <a:blip r:embed="rId2">
            <a:alphaModFix amt="20000"/>
            <a:extLst>
              <a:ext uri="{28A0092B-C50C-407E-A947-70E740481C1C}">
                <a14:useLocalDpi xmlns:a14="http://schemas.microsoft.com/office/drawing/2010/main" val="0"/>
              </a:ext>
            </a:extLst>
          </a:blip>
          <a:stretch>
            <a:fillRect/>
          </a:stretch>
        </p:blipFill>
        <p:spPr>
          <a:xfrm>
            <a:off x="0" y="-3235822"/>
            <a:ext cx="21940839" cy="12341722"/>
          </a:xfrm>
          <a:prstGeom prst="rect">
            <a:avLst/>
          </a:prstGeom>
        </p:spPr>
      </p:pic>
      <p:sp>
        <p:nvSpPr>
          <p:cNvPr id="4" name="TextBox 3">
            <a:extLst>
              <a:ext uri="{FF2B5EF4-FFF2-40B4-BE49-F238E27FC236}">
                <a16:creationId xmlns:a16="http://schemas.microsoft.com/office/drawing/2014/main" id="{6123C9C0-470A-F5AA-FA55-BA3119F6E4FF}"/>
              </a:ext>
            </a:extLst>
          </p:cNvPr>
          <p:cNvSpPr txBox="1"/>
          <p:nvPr/>
        </p:nvSpPr>
        <p:spPr>
          <a:xfrm>
            <a:off x="542924" y="895350"/>
            <a:ext cx="7696201" cy="646331"/>
          </a:xfrm>
          <a:prstGeom prst="rect">
            <a:avLst/>
          </a:prstGeom>
          <a:noFill/>
        </p:spPr>
        <p:txBody>
          <a:bodyPr wrap="square" rtlCol="0">
            <a:spAutoFit/>
          </a:bodyPr>
          <a:lstStyle/>
          <a:p>
            <a:r>
              <a:rPr lang="en-IN" sz="3600" b="1" dirty="0"/>
              <a:t>References</a:t>
            </a:r>
            <a:endParaRPr lang="en-US" sz="3600" b="1" dirty="0"/>
          </a:p>
        </p:txBody>
      </p:sp>
      <p:sp>
        <p:nvSpPr>
          <p:cNvPr id="5" name="TextBox 4">
            <a:extLst>
              <a:ext uri="{FF2B5EF4-FFF2-40B4-BE49-F238E27FC236}">
                <a16:creationId xmlns:a16="http://schemas.microsoft.com/office/drawing/2014/main" id="{A1311528-0EF2-4E5C-C82E-AC269199EB0D}"/>
              </a:ext>
            </a:extLst>
          </p:cNvPr>
          <p:cNvSpPr txBox="1"/>
          <p:nvPr/>
        </p:nvSpPr>
        <p:spPr>
          <a:xfrm>
            <a:off x="542925" y="2413337"/>
            <a:ext cx="11477625" cy="3046988"/>
          </a:xfrm>
          <a:prstGeom prst="rect">
            <a:avLst/>
          </a:prstGeom>
          <a:noFill/>
        </p:spPr>
        <p:txBody>
          <a:bodyPr wrap="square" rtlCol="0">
            <a:spAutoFit/>
          </a:bodyPr>
          <a:lstStyle/>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https://en.wikipedia.org/wiki/Facial_recognition_system</a:t>
            </a:r>
          </a:p>
          <a:p>
            <a:pPr marL="342900" indent="-342900">
              <a:buFont typeface="Arial" panose="020B0604020202020204" pitchFamily="34" charset="0"/>
              <a:buChar char="•"/>
            </a:pPr>
            <a:r>
              <a:rPr lang="en-US" sz="2400" dirty="0"/>
              <a:t>https://en.wikipedia.org/wiki/Computer_vision</a:t>
            </a:r>
          </a:p>
          <a:p>
            <a:pPr marL="342900" indent="-342900">
              <a:buFont typeface="Arial" panose="020B0604020202020204" pitchFamily="34" charset="0"/>
              <a:buChar char="•"/>
            </a:pPr>
            <a:r>
              <a:rPr lang="en-US" sz="2400" dirty="0"/>
              <a:t>https://en.wikipedia.org/wiki/Object_detection</a:t>
            </a:r>
          </a:p>
          <a:p>
            <a:pPr marL="342900" indent="-342900">
              <a:buFont typeface="Arial" panose="020B0604020202020204" pitchFamily="34" charset="0"/>
              <a:buChar char="•"/>
            </a:pPr>
            <a:r>
              <a:rPr lang="en-US" sz="2400" dirty="0"/>
              <a:t>https://en.wikipedia.org/wiki/Convolutional_neural_network</a:t>
            </a:r>
          </a:p>
          <a:p>
            <a:pPr marL="342900" indent="-342900">
              <a:buFont typeface="Arial" panose="020B0604020202020204" pitchFamily="34" charset="0"/>
              <a:buChar char="•"/>
            </a:pPr>
            <a:r>
              <a:rPr lang="en-US" sz="2400" dirty="0"/>
              <a:t>https://en.wikipedia.org/wiki/Biometrics</a:t>
            </a:r>
          </a:p>
          <a:p>
            <a:pPr marL="342900" indent="-342900">
              <a:buFont typeface="Arial" panose="020B0604020202020204" pitchFamily="34" charset="0"/>
              <a:buChar char="•"/>
            </a:pPr>
            <a:r>
              <a:rPr lang="en-US" sz="2400" dirty="0"/>
              <a:t>https://docs.opencv.org</a:t>
            </a:r>
          </a:p>
          <a:p>
            <a:pPr marL="342900" indent="-342900">
              <a:buFont typeface="Arial" panose="020B0604020202020204" pitchFamily="34" charset="0"/>
              <a:buChar char="•"/>
            </a:pPr>
            <a:r>
              <a:rPr lang="en-US" sz="2400" dirty="0"/>
              <a:t>https://github.com/ageitgey/face_recognition</a:t>
            </a:r>
          </a:p>
        </p:txBody>
      </p:sp>
    </p:spTree>
    <p:extLst>
      <p:ext uri="{BB962C8B-B14F-4D97-AF65-F5344CB8AC3E}">
        <p14:creationId xmlns:p14="http://schemas.microsoft.com/office/powerpoint/2010/main" val="6068085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1167</Words>
  <Application>Microsoft Office PowerPoint</Application>
  <PresentationFormat>Widescreen</PresentationFormat>
  <Paragraphs>119</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Basil Mathew</dc:creator>
  <cp:lastModifiedBy>Basil Mathew</cp:lastModifiedBy>
  <cp:revision>12</cp:revision>
  <dcterms:created xsi:type="dcterms:W3CDTF">2026-01-04T06:51:31Z</dcterms:created>
  <dcterms:modified xsi:type="dcterms:W3CDTF">2026-02-05T05:38:13Z</dcterms:modified>
</cp:coreProperties>
</file>