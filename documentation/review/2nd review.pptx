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73" r:id="rId3"/>
    <p:sldId id="258" r:id="rId4"/>
    <p:sldId id="271" r:id="rId5"/>
    <p:sldId id="269" r:id="rId6"/>
    <p:sldId id="284" r:id="rId7"/>
    <p:sldId id="282" r:id="rId8"/>
    <p:sldId id="275" r:id="rId9"/>
    <p:sldId id="283" r:id="rId10"/>
    <p:sldId id="272" r:id="rId11"/>
    <p:sldId id="274" r:id="rId12"/>
  </p:sldIdLst>
  <p:sldSz cx="18288000" cy="10287000"/>
  <p:notesSz cx="6858000" cy="9144000"/>
  <p:embeddedFontLst>
    <p:embeddedFont>
      <p:font typeface="DM Sans" pitchFamily="2" charset="0"/>
      <p:regular r:id="rId13"/>
      <p:bold r:id="rId14"/>
    </p:embeddedFont>
    <p:embeddedFont>
      <p:font typeface="DM Sans Bold" charset="0"/>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p:scale>
          <a:sx n="66" d="100"/>
          <a:sy n="66" d="100"/>
        </p:scale>
        <p:origin x="1050"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E8F1F-8833-D9A4-736B-7EA81F8493A9}"/>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a:extLst>
              <a:ext uri="{FF2B5EF4-FFF2-40B4-BE49-F238E27FC236}">
                <a16:creationId xmlns:a16="http://schemas.microsoft.com/office/drawing/2014/main" id="{0BE2B025-ED73-A81C-D096-78EC832C3294}"/>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DB02F24-6E81-E942-5CFD-6D667DEC4D05}"/>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a:extLst>
              <a:ext uri="{FF2B5EF4-FFF2-40B4-BE49-F238E27FC236}">
                <a16:creationId xmlns:a16="http://schemas.microsoft.com/office/drawing/2014/main" id="{11F21A52-6490-AED8-D781-FA3C0355D8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F13-F083-15B8-1C57-47183B4DEAB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7020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AD2E9-D539-902B-4096-BE36D55C3B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C4060C-FAA0-C67E-C540-283DB9BF16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A1CEEE-1374-075C-B473-FDDFB55F65D2}"/>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a:extLst>
              <a:ext uri="{FF2B5EF4-FFF2-40B4-BE49-F238E27FC236}">
                <a16:creationId xmlns:a16="http://schemas.microsoft.com/office/drawing/2014/main" id="{E4ED6EA1-D69B-8A92-2AF8-536E1933F6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8F41A-5705-FAFB-82D5-E9F28F94D66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619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6D798-2473-CFF0-E654-425C7892C419}"/>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6FCCB2-E222-AF6A-0C09-48812A097DFC}"/>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EA3A0E-B84C-4E70-2D71-BDA14FF6449A}"/>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a:extLst>
              <a:ext uri="{FF2B5EF4-FFF2-40B4-BE49-F238E27FC236}">
                <a16:creationId xmlns:a16="http://schemas.microsoft.com/office/drawing/2014/main" id="{94258A96-0340-B492-FC8A-7298FFE9B0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C7308-03D0-5181-9A7F-50A08145705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9682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9836-21F4-6A37-3FF5-85D3032CC3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1B484A-E155-3354-3764-3BFD1D64BCA4}"/>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86D34D-6232-21BC-9645-A39FB1BDDD9D}"/>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119158-7120-FA71-3915-D8D89126E26E}"/>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a:extLst>
              <a:ext uri="{FF2B5EF4-FFF2-40B4-BE49-F238E27FC236}">
                <a16:creationId xmlns:a16="http://schemas.microsoft.com/office/drawing/2014/main" id="{39E7DB5D-863D-CE7D-B1B7-C7096269B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2DBA61-C592-ED87-A699-64F20F9C2F9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14902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9C125-F237-BFCA-9F39-E5D772EE6227}"/>
              </a:ext>
            </a:extLst>
          </p:cNvPr>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B31AE7-0EFC-9DFB-8645-2FFD02DABED4}"/>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CA0CB40C-F353-D1A8-FAD2-87A1C38E6540}"/>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0D5E27E-DCBF-518C-51D0-2AD6C1659CC3}"/>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5885F500-BF35-3A31-178E-4CAE17A48553}"/>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91A73BE-964B-88D7-D6B0-B01DCC00C8C0}"/>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a:extLst>
              <a:ext uri="{FF2B5EF4-FFF2-40B4-BE49-F238E27FC236}">
                <a16:creationId xmlns:a16="http://schemas.microsoft.com/office/drawing/2014/main" id="{D6BC710B-55CF-59DD-4F79-14D0F11EDD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5E0389-0524-B028-6D66-973BCF14FA9C}"/>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11870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B721-515C-458A-4E0E-487A5053C0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1AD8F4-8260-F1E1-F337-2DD0AD63FFBF}"/>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a:extLst>
              <a:ext uri="{FF2B5EF4-FFF2-40B4-BE49-F238E27FC236}">
                <a16:creationId xmlns:a16="http://schemas.microsoft.com/office/drawing/2014/main" id="{2AFA2283-A8F2-E4E7-4ADD-B1FD643757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F49883-1A04-D045-28C3-F7ED06A8E7F4}"/>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0025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69286-80C0-23D2-D79B-838E1CDD2224}"/>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a:extLst>
              <a:ext uri="{FF2B5EF4-FFF2-40B4-BE49-F238E27FC236}">
                <a16:creationId xmlns:a16="http://schemas.microsoft.com/office/drawing/2014/main" id="{9F56811F-225A-DF13-D523-3B606D4426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0DD57E-D6BF-5146-E82A-B92E0C52354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725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63FE5-CA51-773F-68A8-97566212F36A}"/>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7758B4-F4E6-B743-2705-90774DF256FB}"/>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3F55B1-320D-7571-B4C2-161E97EDA156}"/>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6C506D65-AAD1-2F1F-3B1A-972F44895130}"/>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a:extLst>
              <a:ext uri="{FF2B5EF4-FFF2-40B4-BE49-F238E27FC236}">
                <a16:creationId xmlns:a16="http://schemas.microsoft.com/office/drawing/2014/main" id="{67D0BE7E-0C5B-1021-43B6-21E83BD9A2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005735-3E54-08D8-862D-F7E66608F3E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8021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0489-C5D8-7CE1-09C7-9DEA7335649F}"/>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2FD23F-2234-5A83-675D-8F6620380B80}"/>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a:extLst>
              <a:ext uri="{FF2B5EF4-FFF2-40B4-BE49-F238E27FC236}">
                <a16:creationId xmlns:a16="http://schemas.microsoft.com/office/drawing/2014/main" id="{8BD7B3D5-1C99-8B52-3F47-3F9FD9F3676D}"/>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273DA92F-F588-613E-FA5A-1ED3442B3DA0}"/>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a:extLst>
              <a:ext uri="{FF2B5EF4-FFF2-40B4-BE49-F238E27FC236}">
                <a16:creationId xmlns:a16="http://schemas.microsoft.com/office/drawing/2014/main" id="{729E3CD1-4ACE-89F0-B315-CDDD34352B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6885A6-22BB-6C70-D7F1-0D3432DFEE6C}"/>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3785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3152-AC7F-9875-0684-A0D6BDA1B86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A457DD-8983-F82F-8F30-02C011DF95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98AB99-3308-D4AF-76A5-81A092A6BF64}"/>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a:extLst>
              <a:ext uri="{FF2B5EF4-FFF2-40B4-BE49-F238E27FC236}">
                <a16:creationId xmlns:a16="http://schemas.microsoft.com/office/drawing/2014/main" id="{35607CD1-7D0D-65F4-BE24-DCB64330B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E0606-8A0D-F667-17EF-2D1EB0631E3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43658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628A82-6A37-F07E-28A5-820341BB0613}"/>
              </a:ext>
            </a:extLst>
          </p:cNvPr>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6D93E0-3B11-511D-1CFC-DD1AF6088F0C}"/>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A2FE6C-1362-1189-F170-6EC184ADF038}"/>
              </a:ext>
            </a:extLst>
          </p:cNvPr>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a:extLst>
              <a:ext uri="{FF2B5EF4-FFF2-40B4-BE49-F238E27FC236}">
                <a16:creationId xmlns:a16="http://schemas.microsoft.com/office/drawing/2014/main" id="{78C320C0-E14C-C1E3-7C8A-3FEF960A9B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39A54-1652-CF27-A2DC-8FBDCDA771D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93032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0D9D7-E449-F202-80BF-8C2C9E139F37}"/>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3184DB-7EC0-996A-7D69-AC9CBDE11938}"/>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903F63-A8D0-6A40-FFFE-79B78517DF12}"/>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a:extLst>
              <a:ext uri="{FF2B5EF4-FFF2-40B4-BE49-F238E27FC236}">
                <a16:creationId xmlns:a16="http://schemas.microsoft.com/office/drawing/2014/main" id="{C65DCB9C-FD55-1403-45D9-430831CFDCA0}"/>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62A3E1-E9DC-3764-B303-7991FE2727ED}"/>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194847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505200" y="1055975"/>
            <a:ext cx="13210580" cy="818173"/>
          </a:xfrm>
          <a:prstGeom prst="rect">
            <a:avLst/>
          </a:prstGeom>
        </p:spPr>
        <p:txBody>
          <a:bodyPr lIns="0" tIns="0" rIns="0" bIns="0" rtlCol="0" anchor="t">
            <a:spAutoFit/>
          </a:bodyPr>
          <a:lstStyle/>
          <a:p>
            <a:pPr>
              <a:lnSpc>
                <a:spcPts val="7140"/>
              </a:lnSpc>
            </a:pPr>
            <a:r>
              <a:rPr lang="en-IN" sz="4500" b="1" dirty="0">
                <a:latin typeface="Times New Roman" panose="02020603050405020304" pitchFamily="18" charset="0"/>
                <a:cs typeface="Times New Roman" panose="02020603050405020304" pitchFamily="18" charset="0"/>
              </a:rPr>
              <a:t>TAMILNADU COLLEGE OF ENGINEERING</a:t>
            </a:r>
          </a:p>
        </p:txBody>
      </p:sp>
      <p:pic>
        <p:nvPicPr>
          <p:cNvPr id="1026" name="Picture 2" descr="Tamilnadu College of Engineering">
            <a:extLst>
              <a:ext uri="{FF2B5EF4-FFF2-40B4-BE49-F238E27FC236}">
                <a16:creationId xmlns:a16="http://schemas.microsoft.com/office/drawing/2014/main" id="{C4063EDD-5F3A-C040-FC3F-4555CC2DB23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77776" b="17836"/>
          <a:stretch>
            <a:fillRect/>
          </a:stretch>
        </p:blipFill>
        <p:spPr bwMode="auto">
          <a:xfrm>
            <a:off x="993559" y="908400"/>
            <a:ext cx="2302091" cy="172656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AAC-Logo-250×250 – SJB INSTITUTE OF TECHNOLOGY">
            <a:extLst>
              <a:ext uri="{FF2B5EF4-FFF2-40B4-BE49-F238E27FC236}">
                <a16:creationId xmlns:a16="http://schemas.microsoft.com/office/drawing/2014/main" id="{9DE6AA2F-1D6D-32E8-1F56-B5E17800D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6200" y="908400"/>
            <a:ext cx="1975946" cy="197594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8713945E-B447-2526-5537-91309B9C80B2}"/>
              </a:ext>
            </a:extLst>
          </p:cNvPr>
          <p:cNvSpPr txBox="1"/>
          <p:nvPr/>
        </p:nvSpPr>
        <p:spPr>
          <a:xfrm>
            <a:off x="1374559" y="2636703"/>
            <a:ext cx="2895600" cy="307777"/>
          </a:xfrm>
          <a:prstGeom prst="rect">
            <a:avLst/>
          </a:prstGeom>
          <a:noFill/>
        </p:spPr>
        <p:txBody>
          <a:bodyPr wrap="square">
            <a:spAutoFit/>
          </a:bodyPr>
          <a:lstStyle/>
          <a:p>
            <a:r>
              <a:rPr lang="en-IN" sz="1400" dirty="0"/>
              <a:t>New Heights Old Traditions</a:t>
            </a:r>
          </a:p>
        </p:txBody>
      </p:sp>
      <p:sp>
        <p:nvSpPr>
          <p:cNvPr id="18" name="TextBox 3">
            <a:extLst>
              <a:ext uri="{FF2B5EF4-FFF2-40B4-BE49-F238E27FC236}">
                <a16:creationId xmlns:a16="http://schemas.microsoft.com/office/drawing/2014/main" id="{5ECA2DCD-D4E0-9C5F-89D3-C2E697F4052A}"/>
              </a:ext>
            </a:extLst>
          </p:cNvPr>
          <p:cNvSpPr txBox="1"/>
          <p:nvPr/>
        </p:nvSpPr>
        <p:spPr>
          <a:xfrm>
            <a:off x="2538710" y="1896373"/>
            <a:ext cx="13210580" cy="861774"/>
          </a:xfrm>
          <a:prstGeom prst="rect">
            <a:avLst/>
          </a:prstGeom>
        </p:spPr>
        <p:txBody>
          <a:bodyPr lIns="0" tIns="0" rIns="0" bIns="0" rtlCol="0" anchor="t">
            <a:spAutoFit/>
          </a:bodyPr>
          <a:lstStyle/>
          <a:p>
            <a:pPr algn="ctr"/>
            <a:r>
              <a:rPr lang="en-US" sz="2800" b="1" dirty="0">
                <a:latin typeface="Times New Roman" panose="02020603050405020304" pitchFamily="18" charset="0"/>
                <a:cs typeface="Times New Roman" panose="02020603050405020304" pitchFamily="18" charset="0"/>
              </a:rPr>
              <a:t>Accredited by NAAC with Grade ‘A’ </a:t>
            </a:r>
          </a:p>
          <a:p>
            <a:pPr algn="ctr"/>
            <a:r>
              <a:rPr lang="en-US" sz="2800" b="1" dirty="0">
                <a:latin typeface="Times New Roman" panose="02020603050405020304" pitchFamily="18" charset="0"/>
                <a:cs typeface="Times New Roman" panose="02020603050405020304" pitchFamily="18" charset="0"/>
              </a:rPr>
              <a:t>(Approved by AICTE &amp; Affiliated to Anna University, Chennai)</a:t>
            </a:r>
          </a:p>
        </p:txBody>
      </p:sp>
      <p:sp>
        <p:nvSpPr>
          <p:cNvPr id="22" name="TextBox 21">
            <a:extLst>
              <a:ext uri="{FF2B5EF4-FFF2-40B4-BE49-F238E27FC236}">
                <a16:creationId xmlns:a16="http://schemas.microsoft.com/office/drawing/2014/main" id="{9A7EC274-B779-2F55-951A-956548680C28}"/>
              </a:ext>
            </a:extLst>
          </p:cNvPr>
          <p:cNvSpPr txBox="1"/>
          <p:nvPr/>
        </p:nvSpPr>
        <p:spPr>
          <a:xfrm>
            <a:off x="4381500" y="5019716"/>
            <a:ext cx="9525000" cy="1013354"/>
          </a:xfrm>
          <a:prstGeom prst="rect">
            <a:avLst/>
          </a:prstGeom>
          <a:noFill/>
        </p:spPr>
        <p:txBody>
          <a:bodyPr wrap="square">
            <a:spAutoFit/>
          </a:bodyPr>
          <a:lstStyle/>
          <a:p>
            <a:pPr algn="ctr">
              <a:lnSpc>
                <a:spcPts val="7140"/>
              </a:lnSpc>
            </a:pPr>
            <a:r>
              <a:rPr lang="en-IN" sz="6500" b="1" dirty="0">
                <a:latin typeface="DM Sans Bold" panose="020B0604020202020204" charset="0"/>
              </a:rPr>
              <a:t>Project Second Review</a:t>
            </a:r>
            <a:endParaRPr lang="en-IN" sz="6500" dirty="0">
              <a:latin typeface="DM Sans Bold" panose="020B0604020202020204" charset="0"/>
            </a:endParaRPr>
          </a:p>
        </p:txBody>
      </p:sp>
      <p:sp>
        <p:nvSpPr>
          <p:cNvPr id="4" name="TextBox 3">
            <a:extLst>
              <a:ext uri="{FF2B5EF4-FFF2-40B4-BE49-F238E27FC236}">
                <a16:creationId xmlns:a16="http://schemas.microsoft.com/office/drawing/2014/main" id="{FA1345E6-96F4-75BF-2BEC-E367F6E9F1BF}"/>
              </a:ext>
            </a:extLst>
          </p:cNvPr>
          <p:cNvSpPr txBox="1"/>
          <p:nvPr/>
        </p:nvSpPr>
        <p:spPr>
          <a:xfrm>
            <a:off x="3505200" y="3498477"/>
            <a:ext cx="12720146" cy="907108"/>
          </a:xfrm>
          <a:prstGeom prst="rect">
            <a:avLst/>
          </a:prstGeom>
          <a:noFill/>
        </p:spPr>
        <p:txBody>
          <a:bodyPr wrap="square">
            <a:spAutoFit/>
          </a:bodyPr>
          <a:lstStyle/>
          <a:p>
            <a:pPr>
              <a:lnSpc>
                <a:spcPts val="7140"/>
              </a:lnSpc>
            </a:pPr>
            <a:r>
              <a:rPr lang="en-US" sz="3600" b="1" dirty="0">
                <a:latin typeface="DM Sans Bold" panose="020B0604020202020204" charset="0"/>
              </a:rPr>
              <a:t>Department of Computer Science and Engineering </a:t>
            </a:r>
            <a:endParaRPr lang="en-IN" sz="3600" dirty="0">
              <a:latin typeface="DM Sans Bold" panose="020B0604020202020204" charset="0"/>
            </a:endParaRPr>
          </a:p>
        </p:txBody>
      </p:sp>
      <p:sp>
        <p:nvSpPr>
          <p:cNvPr id="5" name="TextBox 4">
            <a:extLst>
              <a:ext uri="{FF2B5EF4-FFF2-40B4-BE49-F238E27FC236}">
                <a16:creationId xmlns:a16="http://schemas.microsoft.com/office/drawing/2014/main" id="{1F9CF64E-359C-D372-8AA0-5470FC5CECD8}"/>
              </a:ext>
            </a:extLst>
          </p:cNvPr>
          <p:cNvSpPr txBox="1"/>
          <p:nvPr/>
        </p:nvSpPr>
        <p:spPr>
          <a:xfrm>
            <a:off x="6477000" y="6367615"/>
            <a:ext cx="4800600" cy="892488"/>
          </a:xfrm>
          <a:prstGeom prst="rect">
            <a:avLst/>
          </a:prstGeom>
          <a:noFill/>
        </p:spPr>
        <p:txBody>
          <a:bodyPr wrap="square">
            <a:spAutoFit/>
          </a:bodyPr>
          <a:lstStyle/>
          <a:p>
            <a:pPr algn="ctr">
              <a:lnSpc>
                <a:spcPts val="7140"/>
              </a:lnSpc>
            </a:pPr>
            <a:r>
              <a:rPr lang="en-IN" sz="3200" b="1" dirty="0">
                <a:latin typeface="DM Sans Bold" panose="020B0604020202020204" charset="0"/>
              </a:rPr>
              <a:t>DATE : 05 . 03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5AD228-C9E4-B7D7-3E0F-57830A494565}"/>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C39EE05-9A31-552D-0DDF-BA1C33C66EB1}"/>
              </a:ext>
            </a:extLst>
          </p:cNvPr>
          <p:cNvSpPr txBox="1"/>
          <p:nvPr/>
        </p:nvSpPr>
        <p:spPr>
          <a:xfrm>
            <a:off x="2450455" y="1493689"/>
            <a:ext cx="13387090" cy="1821011"/>
          </a:xfrm>
          <a:prstGeom prst="rect">
            <a:avLst/>
          </a:prstGeom>
        </p:spPr>
        <p:txBody>
          <a:bodyPr wrap="square" lIns="0" tIns="0" rIns="0" bIns="0" rtlCol="0" anchor="t">
            <a:spAutoFit/>
          </a:bodyPr>
          <a:lstStyle/>
          <a:p>
            <a:pPr algn="ctr">
              <a:lnSpc>
                <a:spcPts val="7140"/>
              </a:lnSpc>
            </a:pPr>
            <a:r>
              <a:rPr lang="en-US" sz="6000" b="1" dirty="0">
                <a:latin typeface="Arial" panose="020B0604020202020204" pitchFamily="34" charset="0"/>
                <a:cs typeface="Arial" panose="020B0604020202020204" pitchFamily="34" charset="0"/>
              </a:rPr>
              <a:t>Session Based – Cloud Integrated</a:t>
            </a:r>
          </a:p>
          <a:p>
            <a:pPr algn="ctr">
              <a:lnSpc>
                <a:spcPts val="7140"/>
              </a:lnSpc>
            </a:pPr>
            <a:r>
              <a:rPr lang="en-US" sz="6000" b="1" dirty="0">
                <a:latin typeface="Arial" panose="020B0604020202020204" pitchFamily="34" charset="0"/>
                <a:ea typeface="DM Sans Bold"/>
                <a:cs typeface="Arial" panose="020B0604020202020204" pitchFamily="34" charset="0"/>
                <a:sym typeface="DM Sans Bold"/>
              </a:rPr>
              <a:t>File Transferring Ecosystem</a:t>
            </a:r>
            <a:endParaRPr lang="en-US" sz="5000" b="1" dirty="0">
              <a:latin typeface="Arial" panose="020B0604020202020204" pitchFamily="34" charset="0"/>
              <a:ea typeface="DM Sans Bold"/>
              <a:cs typeface="Arial" panose="020B0604020202020204" pitchFamily="34" charset="0"/>
              <a:sym typeface="DM Sans Bold"/>
            </a:endParaRPr>
          </a:p>
        </p:txBody>
      </p:sp>
      <p:sp>
        <p:nvSpPr>
          <p:cNvPr id="4" name="TextBox 4">
            <a:extLst>
              <a:ext uri="{FF2B5EF4-FFF2-40B4-BE49-F238E27FC236}">
                <a16:creationId xmlns:a16="http://schemas.microsoft.com/office/drawing/2014/main" id="{51C51C47-E341-C263-750E-D44EFE3A69BF}"/>
              </a:ext>
            </a:extLst>
          </p:cNvPr>
          <p:cNvSpPr txBox="1"/>
          <p:nvPr/>
        </p:nvSpPr>
        <p:spPr>
          <a:xfrm>
            <a:off x="1447800" y="4881562"/>
            <a:ext cx="4305300" cy="523875"/>
          </a:xfrm>
          <a:prstGeom prst="rect">
            <a:avLst/>
          </a:prstGeom>
        </p:spPr>
        <p:txBody>
          <a:bodyPr wrap="square" lIns="0" tIns="0" rIns="0" bIns="0" rtlCol="0" anchor="t">
            <a:spAutoFit/>
          </a:bodyPr>
          <a:lstStyle/>
          <a:p>
            <a:pPr algn="l">
              <a:lnSpc>
                <a:spcPts val="4200"/>
              </a:lnSpc>
              <a:spcBef>
                <a:spcPct val="0"/>
              </a:spcBef>
            </a:pPr>
            <a:r>
              <a:rPr lang="en-US" sz="3000" b="1" dirty="0">
                <a:latin typeface="DM Sans"/>
                <a:ea typeface="DM Sans"/>
                <a:cs typeface="DM Sans"/>
                <a:sym typeface="DM Sans"/>
              </a:rPr>
              <a:t>Project members:</a:t>
            </a:r>
          </a:p>
        </p:txBody>
      </p:sp>
      <p:sp>
        <p:nvSpPr>
          <p:cNvPr id="5" name="TextBox 5">
            <a:extLst>
              <a:ext uri="{FF2B5EF4-FFF2-40B4-BE49-F238E27FC236}">
                <a16:creationId xmlns:a16="http://schemas.microsoft.com/office/drawing/2014/main" id="{29895D1F-39B9-A519-DE29-0CD4A7827969}"/>
              </a:ext>
            </a:extLst>
          </p:cNvPr>
          <p:cNvSpPr txBox="1"/>
          <p:nvPr/>
        </p:nvSpPr>
        <p:spPr>
          <a:xfrm>
            <a:off x="10515600" y="4901440"/>
            <a:ext cx="2741309" cy="513859"/>
          </a:xfrm>
          <a:prstGeom prst="rect">
            <a:avLst/>
          </a:prstGeom>
        </p:spPr>
        <p:txBody>
          <a:bodyPr wrap="square" lIns="0" tIns="0" rIns="0" bIns="0" rtlCol="0" anchor="t">
            <a:spAutoFit/>
          </a:bodyPr>
          <a:lstStyle/>
          <a:p>
            <a:pPr algn="l">
              <a:lnSpc>
                <a:spcPts val="4200"/>
              </a:lnSpc>
              <a:spcBef>
                <a:spcPct val="0"/>
              </a:spcBef>
            </a:pPr>
            <a:r>
              <a:rPr lang="en-US" sz="3000" b="1" dirty="0">
                <a:latin typeface="DM Sans"/>
                <a:ea typeface="DM Sans"/>
                <a:cs typeface="DM Sans"/>
                <a:sym typeface="DM Sans"/>
              </a:rPr>
              <a:t>Guided by:</a:t>
            </a:r>
          </a:p>
        </p:txBody>
      </p:sp>
      <p:sp>
        <p:nvSpPr>
          <p:cNvPr id="6" name="TextBox 6">
            <a:extLst>
              <a:ext uri="{FF2B5EF4-FFF2-40B4-BE49-F238E27FC236}">
                <a16:creationId xmlns:a16="http://schemas.microsoft.com/office/drawing/2014/main" id="{06AA7D7B-665A-6EA4-F34A-40A5B55F153E}"/>
              </a:ext>
            </a:extLst>
          </p:cNvPr>
          <p:cNvSpPr txBox="1"/>
          <p:nvPr/>
        </p:nvSpPr>
        <p:spPr>
          <a:xfrm>
            <a:off x="1447800" y="5716285"/>
            <a:ext cx="7162800" cy="2866169"/>
          </a:xfrm>
          <a:prstGeom prst="rect">
            <a:avLst/>
          </a:prstGeom>
        </p:spPr>
        <p:txBody>
          <a:bodyPr wrap="square" lIns="0" tIns="0" rIns="0" bIns="0" rtlCol="0" anchor="t">
            <a:spAutoFit/>
          </a:bodyPr>
          <a:lstStyle/>
          <a:p>
            <a:pPr algn="l">
              <a:lnSpc>
                <a:spcPct val="150000"/>
              </a:lnSpc>
            </a:pPr>
            <a:r>
              <a:rPr lang="en-US" sz="3200" dirty="0">
                <a:latin typeface="Times New Roman" panose="02020603050405020304" pitchFamily="18" charset="0"/>
                <a:ea typeface="DM Sans"/>
                <a:cs typeface="Times New Roman" panose="02020603050405020304" pitchFamily="18" charset="0"/>
                <a:sym typeface="DM Sans"/>
              </a:rPr>
              <a:t>Abineeth T M 	: 714222104004</a:t>
            </a:r>
          </a:p>
          <a:p>
            <a:pPr algn="l">
              <a:lnSpc>
                <a:spcPct val="150000"/>
              </a:lnSpc>
            </a:pPr>
            <a:r>
              <a:rPr lang="en-US" sz="3200" dirty="0">
                <a:latin typeface="Times New Roman" panose="02020603050405020304" pitchFamily="18" charset="0"/>
                <a:ea typeface="DM Sans"/>
                <a:cs typeface="Times New Roman" panose="02020603050405020304" pitchFamily="18" charset="0"/>
                <a:sym typeface="DM Sans"/>
              </a:rPr>
              <a:t>Basil V Mathew	: 714222104008</a:t>
            </a:r>
          </a:p>
          <a:p>
            <a:pPr algn="l">
              <a:lnSpc>
                <a:spcPct val="150000"/>
              </a:lnSpc>
            </a:pPr>
            <a:r>
              <a:rPr lang="en-US" sz="3200" dirty="0">
                <a:latin typeface="Times New Roman" panose="02020603050405020304" pitchFamily="18" charset="0"/>
                <a:ea typeface="DM Sans"/>
                <a:cs typeface="Times New Roman" panose="02020603050405020304" pitchFamily="18" charset="0"/>
                <a:sym typeface="DM Sans"/>
              </a:rPr>
              <a:t>Inbarasu M	: 714222104021</a:t>
            </a:r>
          </a:p>
          <a:p>
            <a:pPr algn="l">
              <a:lnSpc>
                <a:spcPct val="150000"/>
              </a:lnSpc>
            </a:pPr>
            <a:r>
              <a:rPr lang="en-US" sz="3200" dirty="0" err="1">
                <a:latin typeface="Times New Roman" panose="02020603050405020304" pitchFamily="18" charset="0"/>
                <a:ea typeface="DM Sans"/>
                <a:cs typeface="Times New Roman" panose="02020603050405020304" pitchFamily="18" charset="0"/>
                <a:sym typeface="DM Sans"/>
              </a:rPr>
              <a:t>Koushick</a:t>
            </a:r>
            <a:r>
              <a:rPr lang="en-US" sz="3200" dirty="0">
                <a:latin typeface="Times New Roman" panose="02020603050405020304" pitchFamily="18" charset="0"/>
                <a:ea typeface="DM Sans"/>
                <a:cs typeface="Times New Roman" panose="02020603050405020304" pitchFamily="18" charset="0"/>
                <a:sym typeface="DM Sans"/>
              </a:rPr>
              <a:t> G V	: 714222104029</a:t>
            </a:r>
          </a:p>
        </p:txBody>
      </p:sp>
      <p:sp>
        <p:nvSpPr>
          <p:cNvPr id="7" name="TextBox 7">
            <a:extLst>
              <a:ext uri="{FF2B5EF4-FFF2-40B4-BE49-F238E27FC236}">
                <a16:creationId xmlns:a16="http://schemas.microsoft.com/office/drawing/2014/main" id="{F8B230D1-47EF-F426-F724-278F013B5AA6}"/>
              </a:ext>
            </a:extLst>
          </p:cNvPr>
          <p:cNvSpPr txBox="1"/>
          <p:nvPr/>
        </p:nvSpPr>
        <p:spPr>
          <a:xfrm>
            <a:off x="10515600" y="5769965"/>
            <a:ext cx="8382000" cy="897682"/>
          </a:xfrm>
          <a:prstGeom prst="rect">
            <a:avLst/>
          </a:prstGeom>
        </p:spPr>
        <p:txBody>
          <a:bodyPr wrap="square" lIns="0" tIns="0" rIns="0" bIns="0" rtlCol="0" anchor="t">
            <a:spAutoFit/>
          </a:bodyPr>
          <a:lstStyle/>
          <a:p>
            <a:pPr algn="l">
              <a:lnSpc>
                <a:spcPts val="3450"/>
              </a:lnSpc>
            </a:pPr>
            <a:r>
              <a:rPr lang="en-US" sz="3000" dirty="0">
                <a:latin typeface="Times New Roman" panose="02020603050405020304" pitchFamily="18" charset="0"/>
                <a:ea typeface="DM Sans"/>
                <a:cs typeface="Times New Roman" panose="02020603050405020304" pitchFamily="18" charset="0"/>
                <a:sym typeface="DM Sans"/>
              </a:rPr>
              <a:t>Dr. Rajesh Babu </a:t>
            </a:r>
          </a:p>
          <a:p>
            <a:pPr algn="l">
              <a:lnSpc>
                <a:spcPts val="3450"/>
              </a:lnSpc>
            </a:pPr>
            <a:r>
              <a:rPr lang="en-US" sz="3000" dirty="0">
                <a:latin typeface="Times New Roman" panose="02020603050405020304" pitchFamily="18" charset="0"/>
                <a:ea typeface="DM Sans"/>
                <a:cs typeface="Times New Roman" panose="02020603050405020304" pitchFamily="18" charset="0"/>
                <a:sym typeface="DM Sans"/>
              </a:rPr>
              <a:t>Head of department / CSE</a:t>
            </a:r>
          </a:p>
        </p:txBody>
      </p:sp>
    </p:spTree>
    <p:extLst>
      <p:ext uri="{BB962C8B-B14F-4D97-AF65-F5344CB8AC3E}">
        <p14:creationId xmlns:p14="http://schemas.microsoft.com/office/powerpoint/2010/main" val="3234612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5531577" y="876300"/>
            <a:ext cx="7224846" cy="1243482"/>
          </a:xfrm>
          <a:prstGeom prst="rect">
            <a:avLst/>
          </a:prstGeom>
        </p:spPr>
        <p:txBody>
          <a:bodyPr wrap="square" lIns="0" tIns="0" rIns="0" bIns="0" rtlCol="0" anchor="t">
            <a:spAutoFit/>
          </a:bodyPr>
          <a:lstStyle/>
          <a:p>
            <a:pPr algn="l">
              <a:lnSpc>
                <a:spcPts val="9450"/>
              </a:lnSpc>
            </a:pPr>
            <a:r>
              <a:rPr lang="en-US" sz="9000" b="1" dirty="0">
                <a:latin typeface="DM Sans"/>
                <a:ea typeface="DM Sans"/>
                <a:cs typeface="DM Sans"/>
                <a:sym typeface="DM Sans"/>
              </a:rPr>
              <a:t>Introduction</a:t>
            </a:r>
          </a:p>
        </p:txBody>
      </p:sp>
      <p:sp>
        <p:nvSpPr>
          <p:cNvPr id="3" name="TextBox 3"/>
          <p:cNvSpPr txBox="1"/>
          <p:nvPr/>
        </p:nvSpPr>
        <p:spPr>
          <a:xfrm>
            <a:off x="1276350" y="3467100"/>
            <a:ext cx="15735300" cy="5416868"/>
          </a:xfrm>
          <a:prstGeom prst="rect">
            <a:avLst/>
          </a:prstGeom>
        </p:spPr>
        <p:txBody>
          <a:bodyPr wrap="square" lIns="0" tIns="0" rIns="0" bIns="0" rtlCol="0" anchor="t">
            <a:spAutoFit/>
          </a:bodyPr>
          <a:lstStyle/>
          <a:p>
            <a:pPr marL="1216659" lvl="3"/>
            <a:r>
              <a:rPr lang="en-US" sz="3200" dirty="0"/>
              <a:t>			In the modern digital era, secure and efficient sharing of confidential documents has become a critical requirement for individuals, organizations, and enterprises. Traditional file-sharing methods often lack sufficient security measures, making sensitive information vulnerable to unauthorized access, data breaches, and cyber-attacks. To address these challenges, the Session Integrated Confidential Document Sharing Application is designed to provide a secure, reliable, and user-friendly platform for sharing sensitive documents. The system integrates session-based authentication and encryption techniques to ensure that only authorized users can access shared files within a limited time frame. This application enhances data confidentiality, integrity, and secure transmission, making it suitable for professional, academic, and business environments.</a:t>
            </a:r>
            <a:endParaRPr lang="en-US" sz="2800" dirty="0">
              <a:latin typeface="Times New Roman" panose="02020603050405020304" pitchFamily="18" charset="0"/>
              <a:ea typeface="DM Sans"/>
              <a:cs typeface="Times New Roman" panose="02020603050405020304" pitchFamily="18" charset="0"/>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BC23A7-BDE2-A9C1-2A00-6D4F03152569}"/>
            </a:ext>
          </a:extLst>
        </p:cNvPr>
        <p:cNvGrpSpPr/>
        <p:nvPr/>
      </p:nvGrpSpPr>
      <p:grpSpPr>
        <a:xfrm>
          <a:off x="0" y="0"/>
          <a:ext cx="0" cy="0"/>
          <a:chOff x="0" y="0"/>
          <a:chExt cx="0" cy="0"/>
        </a:xfrm>
      </p:grpSpPr>
      <p:sp>
        <p:nvSpPr>
          <p:cNvPr id="9" name="TextBox 2">
            <a:extLst>
              <a:ext uri="{FF2B5EF4-FFF2-40B4-BE49-F238E27FC236}">
                <a16:creationId xmlns:a16="http://schemas.microsoft.com/office/drawing/2014/main" id="{A707DAB2-B26B-438E-7F5B-B025F8DCB244}"/>
              </a:ext>
            </a:extLst>
          </p:cNvPr>
          <p:cNvSpPr txBox="1"/>
          <p:nvPr/>
        </p:nvSpPr>
        <p:spPr>
          <a:xfrm>
            <a:off x="5836980" y="876300"/>
            <a:ext cx="6614040" cy="1243482"/>
          </a:xfrm>
          <a:prstGeom prst="rect">
            <a:avLst/>
          </a:prstGeom>
        </p:spPr>
        <p:txBody>
          <a:bodyPr wrap="square" lIns="0" tIns="0" rIns="0" bIns="0" rtlCol="0" anchor="t">
            <a:spAutoFit/>
          </a:bodyPr>
          <a:lstStyle/>
          <a:p>
            <a:pPr algn="l">
              <a:lnSpc>
                <a:spcPts val="9450"/>
              </a:lnSpc>
            </a:pPr>
            <a:r>
              <a:rPr lang="en-US" sz="9000" b="1" dirty="0">
                <a:latin typeface="DM Sans"/>
                <a:ea typeface="DM Sans"/>
                <a:cs typeface="DM Sans"/>
                <a:sym typeface="DM Sans"/>
              </a:rPr>
              <a:t>Abstract</a:t>
            </a:r>
          </a:p>
        </p:txBody>
      </p:sp>
      <p:sp>
        <p:nvSpPr>
          <p:cNvPr id="2" name="Rectangle 1">
            <a:extLst>
              <a:ext uri="{FF2B5EF4-FFF2-40B4-BE49-F238E27FC236}">
                <a16:creationId xmlns:a16="http://schemas.microsoft.com/office/drawing/2014/main" id="{9E340433-35DA-8C2B-1599-1CA6067E8D3A}"/>
              </a:ext>
            </a:extLst>
          </p:cNvPr>
          <p:cNvSpPr>
            <a:spLocks noChangeArrowheads="1"/>
          </p:cNvSpPr>
          <p:nvPr/>
        </p:nvSpPr>
        <p:spPr bwMode="auto">
          <a:xfrm>
            <a:off x="1333500" y="3006991"/>
            <a:ext cx="15621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3200" dirty="0"/>
              <a:t>			The Session Integrated Confidential Document Sharing Application is a secure file-sharing platform that enables users to transfer sensitive documents safely using session-based authentication and encryption techniques. The system establishes a secure session between the sender and receiver, ensuring that documents are accessible only during the active session. Once the session expires, the shared files become inaccessible, thereby preventing unauthorized reuse or leakage. The application incorporates features such as encrypted data transfer, real-time device discovery, access control mechanisms, and secure storage handling. By combining these technologies, the system provides a robust solution for confidential document sharing, reducing security risks and improving trust in digital communication systems.</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869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E82E4A-9C36-3F13-3047-D0B3219FE65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F9BE7A12-13A1-2170-6789-681FECEB0B5C}"/>
              </a:ext>
            </a:extLst>
          </p:cNvPr>
          <p:cNvSpPr txBox="1"/>
          <p:nvPr/>
        </p:nvSpPr>
        <p:spPr>
          <a:xfrm>
            <a:off x="4305300" y="419100"/>
            <a:ext cx="9677400" cy="1243482"/>
          </a:xfrm>
          <a:prstGeom prst="rect">
            <a:avLst/>
          </a:prstGeom>
        </p:spPr>
        <p:txBody>
          <a:bodyPr wrap="square" lIns="0" tIns="0" rIns="0" bIns="0" rtlCol="0" anchor="t">
            <a:spAutoFit/>
          </a:bodyPr>
          <a:lstStyle/>
          <a:p>
            <a:pPr algn="l">
              <a:lnSpc>
                <a:spcPts val="9450"/>
              </a:lnSpc>
            </a:pPr>
            <a:r>
              <a:rPr lang="en-US" sz="9000" b="1" dirty="0">
                <a:latin typeface="DM Sans"/>
                <a:ea typeface="DM Sans"/>
                <a:cs typeface="DM Sans"/>
                <a:sym typeface="DM Sans"/>
              </a:rPr>
              <a:t>Literature Survey</a:t>
            </a:r>
          </a:p>
        </p:txBody>
      </p:sp>
      <p:graphicFrame>
        <p:nvGraphicFramePr>
          <p:cNvPr id="5" name="Table 4">
            <a:extLst>
              <a:ext uri="{FF2B5EF4-FFF2-40B4-BE49-F238E27FC236}">
                <a16:creationId xmlns:a16="http://schemas.microsoft.com/office/drawing/2014/main" id="{855A0B5D-2297-62DD-B727-4EAE3331F874}"/>
              </a:ext>
            </a:extLst>
          </p:cNvPr>
          <p:cNvGraphicFramePr>
            <a:graphicFrameLocks noGrp="1"/>
          </p:cNvGraphicFramePr>
          <p:nvPr>
            <p:extLst>
              <p:ext uri="{D42A27DB-BD31-4B8C-83A1-F6EECF244321}">
                <p14:modId xmlns:p14="http://schemas.microsoft.com/office/powerpoint/2010/main" val="916314590"/>
              </p:ext>
            </p:extLst>
          </p:nvPr>
        </p:nvGraphicFramePr>
        <p:xfrm>
          <a:off x="1371600" y="1890388"/>
          <a:ext cx="15240000" cy="8307029"/>
        </p:xfrm>
        <a:graphic>
          <a:graphicData uri="http://schemas.openxmlformats.org/drawingml/2006/table">
            <a:tbl>
              <a:tblPr firstRow="1" bandRow="1">
                <a:tableStyleId>{5C22544A-7EE6-4342-B048-85BDC9FD1C3A}</a:tableStyleId>
              </a:tblPr>
              <a:tblGrid>
                <a:gridCol w="6638621">
                  <a:extLst>
                    <a:ext uri="{9D8B030D-6E8A-4147-A177-3AD203B41FA5}">
                      <a16:colId xmlns:a16="http://schemas.microsoft.com/office/drawing/2014/main" val="20000"/>
                    </a:ext>
                  </a:extLst>
                </a:gridCol>
                <a:gridCol w="4558730">
                  <a:extLst>
                    <a:ext uri="{9D8B030D-6E8A-4147-A177-3AD203B41FA5}">
                      <a16:colId xmlns:a16="http://schemas.microsoft.com/office/drawing/2014/main" val="20001"/>
                    </a:ext>
                  </a:extLst>
                </a:gridCol>
                <a:gridCol w="4042649">
                  <a:extLst>
                    <a:ext uri="{9D8B030D-6E8A-4147-A177-3AD203B41FA5}">
                      <a16:colId xmlns:a16="http://schemas.microsoft.com/office/drawing/2014/main" val="20002"/>
                    </a:ext>
                  </a:extLst>
                </a:gridCol>
              </a:tblGrid>
              <a:tr h="1181523">
                <a:tc>
                  <a:txBody>
                    <a:bodyPr/>
                    <a:lstStyle/>
                    <a:p>
                      <a:r>
                        <a:rPr sz="2800" dirty="0">
                          <a:latin typeface="Times New Roman" panose="02020603050405020304" pitchFamily="18" charset="0"/>
                          <a:cs typeface="Times New Roman" panose="02020603050405020304" pitchFamily="18" charset="0"/>
                        </a:rPr>
                        <a:t>Author &amp; Year</a:t>
                      </a:r>
                    </a:p>
                  </a:txBody>
                  <a:tcPr/>
                </a:tc>
                <a:tc>
                  <a:txBody>
                    <a:bodyPr/>
                    <a:lstStyle/>
                    <a:p>
                      <a:r>
                        <a:rPr sz="2800" dirty="0">
                          <a:latin typeface="Times New Roman" panose="02020603050405020304" pitchFamily="18" charset="0"/>
                          <a:cs typeface="Times New Roman" panose="02020603050405020304" pitchFamily="18" charset="0"/>
                        </a:rPr>
                        <a:t>IEEE Paper Title</a:t>
                      </a:r>
                    </a:p>
                  </a:txBody>
                  <a:tcPr/>
                </a:tc>
                <a:tc>
                  <a:txBody>
                    <a:bodyPr/>
                    <a:lstStyle/>
                    <a:p>
                      <a:r>
                        <a:rPr sz="2800" dirty="0">
                          <a:latin typeface="Times New Roman" panose="02020603050405020304" pitchFamily="18" charset="0"/>
                          <a:cs typeface="Times New Roman" panose="02020603050405020304" pitchFamily="18" charset="0"/>
                        </a:rPr>
                        <a:t>Methodology / Tech</a:t>
                      </a:r>
                    </a:p>
                  </a:txBody>
                  <a:tcPr/>
                </a:tc>
                <a:extLst>
                  <a:ext uri="{0D108BD9-81ED-4DB2-BD59-A6C34878D82A}">
                    <a16:rowId xmlns:a16="http://schemas.microsoft.com/office/drawing/2014/main" val="10000"/>
                  </a:ext>
                </a:extLst>
              </a:tr>
              <a:tr h="2248706">
                <a:tc>
                  <a:txBody>
                    <a:bodyPr/>
                    <a:lstStyle/>
                    <a:p>
                      <a:r>
                        <a:rPr lang="en-IN" sz="2800" dirty="0"/>
                        <a:t>Zhang, Y. &amp; Lee, W. (2019)</a:t>
                      </a:r>
                      <a:endParaRPr sz="2800" dirty="0">
                        <a:latin typeface="Times New Roman" panose="02020603050405020304" pitchFamily="18" charset="0"/>
                        <a:cs typeface="Times New Roman" panose="02020603050405020304" pitchFamily="18" charset="0"/>
                      </a:endParaRPr>
                    </a:p>
                  </a:txBody>
                  <a:tcPr/>
                </a:tc>
                <a:tc>
                  <a:txBody>
                    <a:bodyPr/>
                    <a:lstStyle/>
                    <a:p>
                      <a:r>
                        <a:rPr lang="en-US" sz="2800" dirty="0"/>
                        <a:t>Secure Peer-to-Peer File Sharing Using End-to-End Encryption</a:t>
                      </a:r>
                      <a:endParaRPr sz="2800" dirty="0">
                        <a:latin typeface="Times New Roman" panose="02020603050405020304" pitchFamily="18" charset="0"/>
                        <a:cs typeface="Times New Roman" panose="02020603050405020304" pitchFamily="18" charset="0"/>
                      </a:endParaRPr>
                    </a:p>
                  </a:txBody>
                  <a:tcPr/>
                </a:tc>
                <a:tc>
                  <a:txBody>
                    <a:bodyPr/>
                    <a:lstStyle/>
                    <a:p>
                      <a:r>
                        <a:rPr lang="en-US" sz="2800" dirty="0"/>
                        <a:t>End-to-End AES Encryption</a:t>
                      </a:r>
                    </a:p>
                    <a:p>
                      <a:r>
                        <a:rPr lang="en-US" sz="2800" dirty="0"/>
                        <a:t>RSA Key Exchange</a:t>
                      </a:r>
                    </a:p>
                    <a:p>
                      <a:r>
                        <a:rPr lang="en-US" sz="2800" dirty="0"/>
                        <a:t>Peer-to-Peer Communication Model</a:t>
                      </a:r>
                    </a:p>
                  </a:txBody>
                  <a:tcPr/>
                </a:tc>
                <a:extLst>
                  <a:ext uri="{0D108BD9-81ED-4DB2-BD59-A6C34878D82A}">
                    <a16:rowId xmlns:a16="http://schemas.microsoft.com/office/drawing/2014/main" val="10001"/>
                  </a:ext>
                </a:extLst>
              </a:tr>
              <a:tr h="2248706">
                <a:tc>
                  <a:txBody>
                    <a:bodyPr/>
                    <a:lstStyle/>
                    <a:p>
                      <a:r>
                        <a:rPr lang="en-IN" sz="2800" dirty="0"/>
                        <a:t>Kumar, S. &amp; Patel, R. (2020)</a:t>
                      </a:r>
                      <a:endParaRPr sz="2800" dirty="0">
                        <a:latin typeface="Times New Roman" panose="02020603050405020304" pitchFamily="18" charset="0"/>
                        <a:cs typeface="Times New Roman" panose="02020603050405020304" pitchFamily="18" charset="0"/>
                      </a:endParaRPr>
                    </a:p>
                  </a:txBody>
                  <a:tcPr/>
                </a:tc>
                <a:tc>
                  <a:txBody>
                    <a:bodyPr/>
                    <a:lstStyle/>
                    <a:p>
                      <a:r>
                        <a:rPr lang="en-US" sz="2800" dirty="0"/>
                        <a:t>Session-Based Authentication for Secure Data Transmission</a:t>
                      </a:r>
                      <a:endParaRPr sz="2800" dirty="0">
                        <a:latin typeface="Times New Roman" panose="02020603050405020304" pitchFamily="18" charset="0"/>
                        <a:cs typeface="Times New Roman" panose="02020603050405020304" pitchFamily="18" charset="0"/>
                      </a:endParaRPr>
                    </a:p>
                  </a:txBody>
                  <a:tcPr/>
                </a:tc>
                <a:tc>
                  <a:txBody>
                    <a:bodyPr/>
                    <a:lstStyle/>
                    <a:p>
                      <a:r>
                        <a:rPr lang="en-US" sz="2800" dirty="0"/>
                        <a:t>Session Tokens</a:t>
                      </a:r>
                    </a:p>
                    <a:p>
                      <a:r>
                        <a:rPr lang="en-US" sz="2800" dirty="0"/>
                        <a:t>Time-Limited Access Control</a:t>
                      </a:r>
                    </a:p>
                    <a:p>
                      <a:r>
                        <a:rPr lang="en-US" sz="2800" dirty="0"/>
                        <a:t>HTTPS Secure Communication</a:t>
                      </a:r>
                    </a:p>
                    <a:p>
                      <a:endParaRPr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917577">
                <a:tc>
                  <a:txBody>
                    <a:bodyPr/>
                    <a:lstStyle/>
                    <a:p>
                      <a:r>
                        <a:rPr lang="da-DK" sz="2800" dirty="0"/>
                        <a:t>Chen, L. et al. (2021)</a:t>
                      </a:r>
                      <a:endParaRPr sz="2800" dirty="0">
                        <a:latin typeface="Times New Roman" panose="02020603050405020304" pitchFamily="18" charset="0"/>
                        <a:cs typeface="Times New Roman" panose="02020603050405020304" pitchFamily="18" charset="0"/>
                      </a:endParaRPr>
                    </a:p>
                  </a:txBody>
                  <a:tcPr/>
                </a:tc>
                <a:tc>
                  <a:txBody>
                    <a:bodyPr/>
                    <a:lstStyle/>
                    <a:p>
                      <a:r>
                        <a:rPr lang="en-US" sz="2800" dirty="0"/>
                        <a:t>Secure Mobile File Sharing Using </a:t>
                      </a:r>
                      <a:r>
                        <a:rPr lang="en-US" sz="2800" dirty="0" err="1"/>
                        <a:t>WiFi</a:t>
                      </a:r>
                      <a:r>
                        <a:rPr lang="en-US" sz="2800" dirty="0"/>
                        <a:t> Direct</a:t>
                      </a:r>
                      <a:endParaRPr sz="2800" dirty="0">
                        <a:latin typeface="Times New Roman" panose="02020603050405020304" pitchFamily="18" charset="0"/>
                        <a:cs typeface="Times New Roman" panose="02020603050405020304" pitchFamily="18" charset="0"/>
                      </a:endParaRPr>
                    </a:p>
                  </a:txBody>
                  <a:tcPr/>
                </a:tc>
                <a:tc>
                  <a:txBody>
                    <a:bodyPr/>
                    <a:lstStyle/>
                    <a:p>
                      <a:r>
                        <a:rPr lang="en-US" sz="2800" dirty="0" err="1"/>
                        <a:t>WiFi</a:t>
                      </a:r>
                      <a:r>
                        <a:rPr lang="en-US" sz="2800" dirty="0"/>
                        <a:t> Direct Peer Discovery</a:t>
                      </a:r>
                    </a:p>
                    <a:p>
                      <a:r>
                        <a:rPr lang="en-US" sz="2800" dirty="0"/>
                        <a:t>Encrypted Socket Communication</a:t>
                      </a:r>
                    </a:p>
                    <a:p>
                      <a:r>
                        <a:rPr lang="en-US" sz="2800" dirty="0"/>
                        <a:t>Android-Based Implementation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59990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CDBA0F9D-A840-9181-54A2-7CD07C34F37F}"/>
              </a:ext>
            </a:extLst>
          </p:cNvPr>
          <p:cNvSpPr txBox="1"/>
          <p:nvPr/>
        </p:nvSpPr>
        <p:spPr>
          <a:xfrm>
            <a:off x="3821444" y="647700"/>
            <a:ext cx="10645110" cy="1218282"/>
          </a:xfrm>
          <a:prstGeom prst="rect">
            <a:avLst/>
          </a:prstGeom>
        </p:spPr>
        <p:txBody>
          <a:bodyPr wrap="square" lIns="0" tIns="0" rIns="0" bIns="0" rtlCol="0" anchor="t">
            <a:spAutoFit/>
          </a:bodyPr>
          <a:lstStyle/>
          <a:p>
            <a:pPr algn="ctr">
              <a:lnSpc>
                <a:spcPts val="9450"/>
              </a:lnSpc>
            </a:pPr>
            <a:r>
              <a:rPr lang="en-US" sz="8000" b="1" dirty="0">
                <a:latin typeface="DM Sans"/>
                <a:ea typeface="DM Sans"/>
                <a:cs typeface="DM Sans"/>
                <a:sym typeface="DM Sans"/>
              </a:rPr>
              <a:t>Proposed Method</a:t>
            </a:r>
          </a:p>
        </p:txBody>
      </p:sp>
      <p:sp>
        <p:nvSpPr>
          <p:cNvPr id="3" name="Rectangle 1">
            <a:extLst>
              <a:ext uri="{FF2B5EF4-FFF2-40B4-BE49-F238E27FC236}">
                <a16:creationId xmlns:a16="http://schemas.microsoft.com/office/drawing/2014/main" id="{DD613691-5776-8E37-C868-D0E482AF1771}"/>
              </a:ext>
            </a:extLst>
          </p:cNvPr>
          <p:cNvSpPr>
            <a:spLocks noChangeArrowheads="1"/>
          </p:cNvSpPr>
          <p:nvPr/>
        </p:nvSpPr>
        <p:spPr bwMode="auto">
          <a:xfrm>
            <a:off x="1752600" y="3527406"/>
            <a:ext cx="15240000" cy="42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200000"/>
              </a:lnSpc>
              <a:spcBef>
                <a:spcPct val="0"/>
              </a:spcBef>
              <a:spcAft>
                <a:spcPct val="0"/>
              </a:spcAft>
              <a:buFontTx/>
              <a:buChar char="•"/>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Session based file transfer</a:t>
            </a:r>
          </a:p>
          <a:p>
            <a:pPr lvl="0" algn="just" eaLnBrk="0" fontAlgn="base" hangingPunct="0">
              <a:lnSpc>
                <a:spcPct val="20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Cloud integration</a:t>
            </a:r>
          </a:p>
          <a:p>
            <a:pPr lvl="0" algn="just" eaLnBrk="0" fontAlgn="base" hangingPunct="0">
              <a:lnSpc>
                <a:spcPct val="200000"/>
              </a:lnSpc>
              <a:spcBef>
                <a:spcPct val="0"/>
              </a:spcBef>
              <a:spcAft>
                <a:spcPct val="0"/>
              </a:spcAft>
              <a:buFontTx/>
              <a:buChar char="•"/>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a:t>
            </a:r>
          </a:p>
          <a:p>
            <a:pPr lvl="0" algn="just" eaLnBrk="0" fontAlgn="base" hangingPunct="0">
              <a:lnSpc>
                <a:spcPct val="200000"/>
              </a:lnSpc>
              <a:spcBef>
                <a:spcPct val="0"/>
              </a:spcBef>
              <a:spcAft>
                <a:spcPct val="0"/>
              </a:spcAft>
              <a:buFontTx/>
              <a:buChar char="•"/>
            </a:pPr>
            <a:r>
              <a:rPr lang="en-US" altLang="en-US" sz="2800" dirty="0">
                <a:latin typeface="Times New Roman" panose="02020603050405020304" pitchFamily="18" charset="0"/>
                <a:cs typeface="Times New Roman" panose="02020603050405020304" pitchFamily="18" charset="0"/>
              </a:rPr>
              <a:t>Data set shared via QR</a:t>
            </a:r>
          </a:p>
          <a:p>
            <a:pPr lvl="0" algn="just" eaLnBrk="0" fontAlgn="base" hangingPunct="0">
              <a:lnSpc>
                <a:spcPct val="200000"/>
              </a:lnSpc>
              <a:spcBef>
                <a:spcPct val="0"/>
              </a:spcBef>
              <a:spcAft>
                <a:spcPct val="0"/>
              </a:spcAft>
              <a:buFontTx/>
              <a:buChar char="•"/>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Session</a:t>
            </a:r>
            <a:r>
              <a:rPr lang="en-US" altLang="en-US" sz="2800" dirty="0">
                <a:latin typeface="Times New Roman" panose="02020603050405020304" pitchFamily="18" charset="0"/>
                <a:cs typeface="Times New Roman" panose="02020603050405020304" pitchFamily="18" charset="0"/>
              </a:rPr>
              <a:t> maintained by multilevel security</a:t>
            </a: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063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
            <a:extLst>
              <a:ext uri="{FF2B5EF4-FFF2-40B4-BE49-F238E27FC236}">
                <a16:creationId xmlns:a16="http://schemas.microsoft.com/office/drawing/2014/main" id="{15A98A08-625B-75CD-DCC4-6E2BBA950B7B}"/>
              </a:ext>
            </a:extLst>
          </p:cNvPr>
          <p:cNvSpPr txBox="1"/>
          <p:nvPr/>
        </p:nvSpPr>
        <p:spPr>
          <a:xfrm>
            <a:off x="-2359782" y="190959"/>
            <a:ext cx="10645110" cy="1218282"/>
          </a:xfrm>
          <a:prstGeom prst="rect">
            <a:avLst/>
          </a:prstGeom>
        </p:spPr>
        <p:txBody>
          <a:bodyPr wrap="square" lIns="0" tIns="0" rIns="0" bIns="0" rtlCol="0" anchor="t">
            <a:spAutoFit/>
          </a:bodyPr>
          <a:lstStyle/>
          <a:p>
            <a:pPr algn="ctr">
              <a:lnSpc>
                <a:spcPts val="9450"/>
              </a:lnSpc>
            </a:pPr>
            <a:r>
              <a:rPr lang="en-US" sz="8000" b="1" dirty="0">
                <a:latin typeface="DM Sans"/>
                <a:ea typeface="DM Sans"/>
                <a:cs typeface="DM Sans"/>
                <a:sym typeface="DM Sans"/>
              </a:rPr>
              <a:t>Flow Chart</a:t>
            </a:r>
          </a:p>
        </p:txBody>
      </p:sp>
      <p:pic>
        <p:nvPicPr>
          <p:cNvPr id="26" name="Picture 25">
            <a:extLst>
              <a:ext uri="{FF2B5EF4-FFF2-40B4-BE49-F238E27FC236}">
                <a16:creationId xmlns:a16="http://schemas.microsoft.com/office/drawing/2014/main" id="{CF49557A-62D2-B000-B70F-4E3BD1AC6A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9400" y="-1638300"/>
            <a:ext cx="10645110" cy="14596703"/>
          </a:xfrm>
          <a:prstGeom prst="rect">
            <a:avLst/>
          </a:prstGeom>
        </p:spPr>
      </p:pic>
    </p:spTree>
    <p:extLst>
      <p:ext uri="{BB962C8B-B14F-4D97-AF65-F5344CB8AC3E}">
        <p14:creationId xmlns:p14="http://schemas.microsoft.com/office/powerpoint/2010/main" val="4059334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82B463-CF42-D025-A4B5-2AF36C3ED596}"/>
            </a:ext>
          </a:extLst>
        </p:cNvPr>
        <p:cNvGrpSpPr/>
        <p:nvPr/>
      </p:nvGrpSpPr>
      <p:grpSpPr>
        <a:xfrm>
          <a:off x="0" y="0"/>
          <a:ext cx="0" cy="0"/>
          <a:chOff x="0" y="0"/>
          <a:chExt cx="0" cy="0"/>
        </a:xfrm>
      </p:grpSpPr>
      <p:sp>
        <p:nvSpPr>
          <p:cNvPr id="9" name="TextBox 2">
            <a:extLst>
              <a:ext uri="{FF2B5EF4-FFF2-40B4-BE49-F238E27FC236}">
                <a16:creationId xmlns:a16="http://schemas.microsoft.com/office/drawing/2014/main" id="{483E7E0F-297C-BE78-1682-BD22602EBBB2}"/>
              </a:ext>
            </a:extLst>
          </p:cNvPr>
          <p:cNvSpPr txBox="1"/>
          <p:nvPr/>
        </p:nvSpPr>
        <p:spPr>
          <a:xfrm>
            <a:off x="1484669" y="800100"/>
            <a:ext cx="15094783" cy="1177502"/>
          </a:xfrm>
          <a:prstGeom prst="rect">
            <a:avLst/>
          </a:prstGeom>
        </p:spPr>
        <p:txBody>
          <a:bodyPr wrap="square" lIns="0" tIns="0" rIns="0" bIns="0" rtlCol="0" anchor="t">
            <a:spAutoFit/>
          </a:bodyPr>
          <a:lstStyle/>
          <a:p>
            <a:pPr algn="ctr">
              <a:lnSpc>
                <a:spcPts val="9450"/>
              </a:lnSpc>
            </a:pPr>
            <a:r>
              <a:rPr lang="en-US" sz="6600" b="1" dirty="0">
                <a:latin typeface="DM Sans"/>
                <a:ea typeface="DM Sans"/>
                <a:cs typeface="DM Sans"/>
                <a:sym typeface="DM Sans"/>
              </a:rPr>
              <a:t>Tools And Methodology Used</a:t>
            </a:r>
          </a:p>
        </p:txBody>
      </p:sp>
      <p:sp>
        <p:nvSpPr>
          <p:cNvPr id="4" name="Rectangle 2">
            <a:extLst>
              <a:ext uri="{FF2B5EF4-FFF2-40B4-BE49-F238E27FC236}">
                <a16:creationId xmlns:a16="http://schemas.microsoft.com/office/drawing/2014/main" id="{FFF43CE1-4384-789C-2577-C11233C03CD5}"/>
              </a:ext>
            </a:extLst>
          </p:cNvPr>
          <p:cNvSpPr>
            <a:spLocks noChangeArrowheads="1"/>
          </p:cNvSpPr>
          <p:nvPr/>
        </p:nvSpPr>
        <p:spPr bwMode="auto">
          <a:xfrm>
            <a:off x="1219200" y="2892745"/>
            <a:ext cx="16687800" cy="5851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3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SpringBoot</a:t>
            </a:r>
            <a:r>
              <a:rPr lang="en-US" altLang="en-US" sz="3200" b="1" dirty="0">
                <a:latin typeface="Times New Roman" panose="02020603050405020304" pitchFamily="18" charset="0"/>
                <a:cs typeface="Times New Roman" panose="02020603050405020304" pitchFamily="18" charset="0"/>
              </a:rPr>
              <a:t>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Backend and </a:t>
            </a:r>
            <a:r>
              <a:rPr kumimoji="0" lang="en-US" altLang="en-US" sz="3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api</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management</a:t>
            </a:r>
          </a:p>
          <a:p>
            <a:pPr marL="0" marR="0" lvl="0" indent="0" algn="just" defTabSz="914400" rtl="0" eaLnBrk="0" fontAlgn="base" latinLnBrk="0" hangingPunct="0">
              <a:lnSpc>
                <a:spcPct val="200000"/>
              </a:lnSpc>
              <a:spcBef>
                <a:spcPct val="0"/>
              </a:spcBef>
              <a:spcAft>
                <a:spcPct val="0"/>
              </a:spcAft>
              <a:buClrTx/>
              <a:buSzTx/>
              <a:buFontTx/>
              <a:buChar char="•"/>
              <a:tabLst/>
            </a:pPr>
            <a:r>
              <a:rPr lang="en-US" altLang="en-US" sz="3200" b="1" dirty="0">
                <a:latin typeface="Times New Roman" panose="02020603050405020304" pitchFamily="18" charset="0"/>
                <a:cs typeface="Times New Roman" panose="02020603050405020304" pitchFamily="18" charset="0"/>
              </a:rPr>
              <a:t>Android		:Main application interface </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Render		: </a:t>
            </a:r>
            <a:r>
              <a:rPr lang="en-US" altLang="en-US" sz="3200" b="1" dirty="0">
                <a:latin typeface="Times New Roman" panose="02020603050405020304" pitchFamily="18" charset="0"/>
                <a:cs typeface="Times New Roman" panose="02020603050405020304" pitchFamily="18" charset="0"/>
              </a:rPr>
              <a:t>Backend hosting</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3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Supabase</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3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Datamanagement</a:t>
            </a:r>
            <a:endPar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Android Studio: Android app devel</a:t>
            </a:r>
            <a:r>
              <a:rPr lang="en-US" altLang="en-US" sz="3200" b="1" dirty="0">
                <a:latin typeface="Times New Roman" panose="02020603050405020304" pitchFamily="18" charset="0"/>
                <a:cs typeface="Times New Roman" panose="02020603050405020304" pitchFamily="18" charset="0"/>
              </a:rPr>
              <a:t>opment</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 tools	: Backend development</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914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839EF2B-2CFC-3AFD-82BB-E0EDF4ECF370}"/>
              </a:ext>
            </a:extLst>
          </p:cNvPr>
          <p:cNvSpPr txBox="1"/>
          <p:nvPr/>
        </p:nvSpPr>
        <p:spPr>
          <a:xfrm>
            <a:off x="2432050" y="647700"/>
            <a:ext cx="13423900" cy="1247906"/>
          </a:xfrm>
          <a:prstGeom prst="rect">
            <a:avLst/>
          </a:prstGeom>
          <a:noFill/>
        </p:spPr>
        <p:txBody>
          <a:bodyPr wrap="square">
            <a:spAutoFit/>
          </a:bodyPr>
          <a:lstStyle/>
          <a:p>
            <a:pPr algn="ctr">
              <a:lnSpc>
                <a:spcPts val="9450"/>
              </a:lnSpc>
            </a:pPr>
            <a:r>
              <a:rPr lang="en-US" sz="6000" b="1" dirty="0">
                <a:latin typeface="DM Sans"/>
                <a:ea typeface="DM Sans"/>
                <a:cs typeface="DM Sans"/>
                <a:sym typeface="DM Sans"/>
              </a:rPr>
              <a:t>Simulation And Implementation</a:t>
            </a:r>
            <a:endParaRPr lang="en-US" sz="4800" b="1" dirty="0">
              <a:latin typeface="DM Sans"/>
              <a:ea typeface="DM Sans"/>
              <a:cs typeface="DM Sans"/>
              <a:sym typeface="DM Sans"/>
            </a:endParaRPr>
          </a:p>
        </p:txBody>
      </p:sp>
      <p:pic>
        <p:nvPicPr>
          <p:cNvPr id="3" name="Picture 2">
            <a:extLst>
              <a:ext uri="{FF2B5EF4-FFF2-40B4-BE49-F238E27FC236}">
                <a16:creationId xmlns:a16="http://schemas.microsoft.com/office/drawing/2014/main" id="{E7ED56D2-D8E8-8AAF-DB39-69B6B0DA3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7600" y="1895606"/>
            <a:ext cx="3606419" cy="8034300"/>
          </a:xfrm>
          <a:prstGeom prst="rect">
            <a:avLst/>
          </a:prstGeom>
        </p:spPr>
      </p:pic>
      <p:pic>
        <p:nvPicPr>
          <p:cNvPr id="6" name="Picture 5">
            <a:extLst>
              <a:ext uri="{FF2B5EF4-FFF2-40B4-BE49-F238E27FC236}">
                <a16:creationId xmlns:a16="http://schemas.microsoft.com/office/drawing/2014/main" id="{E449A29F-C17C-3B50-10C0-58571BED8D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0" y="1895606"/>
            <a:ext cx="3606419" cy="8034300"/>
          </a:xfrm>
          <a:prstGeom prst="rect">
            <a:avLst/>
          </a:prstGeom>
        </p:spPr>
      </p:pic>
      <p:pic>
        <p:nvPicPr>
          <p:cNvPr id="10" name="Picture 9">
            <a:extLst>
              <a:ext uri="{FF2B5EF4-FFF2-40B4-BE49-F238E27FC236}">
                <a16:creationId xmlns:a16="http://schemas.microsoft.com/office/drawing/2014/main" id="{67646354-899E-5A27-6502-D20CCE964F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1895606"/>
            <a:ext cx="3606419" cy="8034300"/>
          </a:xfrm>
          <a:prstGeom prst="rect">
            <a:avLst/>
          </a:prstGeom>
        </p:spPr>
      </p:pic>
    </p:spTree>
    <p:extLst>
      <p:ext uri="{BB962C8B-B14F-4D97-AF65-F5344CB8AC3E}">
        <p14:creationId xmlns:p14="http://schemas.microsoft.com/office/powerpoint/2010/main" val="692377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09C31A-81F4-807E-D54D-ABBCE02B0E4B}"/>
            </a:ext>
          </a:extLst>
        </p:cNvPr>
        <p:cNvGrpSpPr/>
        <p:nvPr/>
      </p:nvGrpSpPr>
      <p:grpSpPr>
        <a:xfrm>
          <a:off x="0" y="0"/>
          <a:ext cx="0" cy="0"/>
          <a:chOff x="0" y="0"/>
          <a:chExt cx="0" cy="0"/>
        </a:xfrm>
      </p:grpSpPr>
      <p:sp>
        <p:nvSpPr>
          <p:cNvPr id="11" name="TextBox 8">
            <a:extLst>
              <a:ext uri="{FF2B5EF4-FFF2-40B4-BE49-F238E27FC236}">
                <a16:creationId xmlns:a16="http://schemas.microsoft.com/office/drawing/2014/main" id="{B25696C4-B33B-CE89-1447-57ADC2606051}"/>
              </a:ext>
            </a:extLst>
          </p:cNvPr>
          <p:cNvSpPr txBox="1"/>
          <p:nvPr/>
        </p:nvSpPr>
        <p:spPr>
          <a:xfrm>
            <a:off x="5469972" y="571500"/>
            <a:ext cx="7348055" cy="1209675"/>
          </a:xfrm>
          <a:prstGeom prst="rect">
            <a:avLst/>
          </a:prstGeom>
        </p:spPr>
        <p:txBody>
          <a:bodyPr lIns="0" tIns="0" rIns="0" bIns="0" rtlCol="0" anchor="t">
            <a:spAutoFit/>
          </a:bodyPr>
          <a:lstStyle/>
          <a:p>
            <a:pPr marL="0" lvl="0" indent="0" algn="ctr">
              <a:lnSpc>
                <a:spcPts val="9000"/>
              </a:lnSpc>
            </a:pPr>
            <a:r>
              <a:rPr lang="en-US" sz="9000" b="1" spc="-450" dirty="0">
                <a:latin typeface="DM Sans"/>
                <a:ea typeface="DM Sans"/>
                <a:cs typeface="DM Sans"/>
                <a:sym typeface="DM Sans"/>
              </a:rPr>
              <a:t>References</a:t>
            </a:r>
          </a:p>
        </p:txBody>
      </p:sp>
      <p:sp>
        <p:nvSpPr>
          <p:cNvPr id="4" name="Rectangle 3">
            <a:extLst>
              <a:ext uri="{FF2B5EF4-FFF2-40B4-BE49-F238E27FC236}">
                <a16:creationId xmlns:a16="http://schemas.microsoft.com/office/drawing/2014/main" id="{77A6F610-BB1F-0B0D-37B7-EA3F5CB2A47F}"/>
              </a:ext>
            </a:extLst>
          </p:cNvPr>
          <p:cNvSpPr>
            <a:spLocks noChangeArrowheads="1"/>
          </p:cNvSpPr>
          <p:nvPr/>
        </p:nvSpPr>
        <p:spPr bwMode="auto">
          <a:xfrm>
            <a:off x="1066800" y="4737463"/>
            <a:ext cx="15087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algn="just" eaLnBrk="0" fontAlgn="base" hangingPunct="0">
              <a:spcBef>
                <a:spcPct val="0"/>
              </a:spcBef>
              <a:spcAft>
                <a:spcPct val="0"/>
              </a:spcAft>
              <a:buFont typeface="+mj-lt"/>
              <a:buAutoNum type="arabicParenR"/>
            </a:pPr>
            <a:r>
              <a:rPr lang="en-US" sz="2800" dirty="0">
                <a:latin typeface="Times New Roman" panose="02020603050405020304" pitchFamily="18" charset="0"/>
                <a:cs typeface="Times New Roman" panose="02020603050405020304" pitchFamily="18" charset="0"/>
              </a:rPr>
              <a:t>William Stallings, Cryptography and Network Security, </a:t>
            </a:r>
          </a:p>
          <a:p>
            <a:pPr marL="514350" lvl="0" indent="-514350" algn="just" eaLnBrk="0" fontAlgn="base" hangingPunct="0">
              <a:spcBef>
                <a:spcPct val="0"/>
              </a:spcBef>
              <a:spcAft>
                <a:spcPct val="0"/>
              </a:spcAft>
              <a:buFont typeface="+mj-lt"/>
              <a:buAutoNum type="arabicParenR"/>
            </a:pPr>
            <a:r>
              <a:rPr lang="en-US" sz="2800" dirty="0">
                <a:latin typeface="Times New Roman" panose="02020603050405020304" pitchFamily="18" charset="0"/>
                <a:cs typeface="Times New Roman" panose="02020603050405020304" pitchFamily="18" charset="0"/>
              </a:rPr>
              <a:t>Pearson </a:t>
            </a:r>
            <a:r>
              <a:rPr lang="en-US" sz="2800" dirty="0" err="1">
                <a:latin typeface="Times New Roman" panose="02020603050405020304" pitchFamily="18" charset="0"/>
                <a:cs typeface="Times New Roman" panose="02020603050405020304" pitchFamily="18" charset="0"/>
              </a:rPr>
              <a:t>Education.Andrew</a:t>
            </a:r>
            <a:r>
              <a:rPr lang="en-US" sz="2800" dirty="0">
                <a:latin typeface="Times New Roman" panose="02020603050405020304" pitchFamily="18" charset="0"/>
                <a:cs typeface="Times New Roman" panose="02020603050405020304" pitchFamily="18" charset="0"/>
              </a:rPr>
              <a:t> S. Tanenbaum, Computer Networks, </a:t>
            </a:r>
          </a:p>
          <a:p>
            <a:pPr marL="514350" lvl="0" indent="-514350" algn="just" eaLnBrk="0" fontAlgn="base" hangingPunct="0">
              <a:spcBef>
                <a:spcPct val="0"/>
              </a:spcBef>
              <a:spcAft>
                <a:spcPct val="0"/>
              </a:spcAft>
              <a:buFont typeface="+mj-lt"/>
              <a:buAutoNum type="arabicParenR"/>
            </a:pPr>
            <a:r>
              <a:rPr lang="en-US" sz="2800" dirty="0">
                <a:latin typeface="Times New Roman" panose="02020603050405020304" pitchFamily="18" charset="0"/>
                <a:cs typeface="Times New Roman" panose="02020603050405020304" pitchFamily="18" charset="0"/>
              </a:rPr>
              <a:t>Pearson </a:t>
            </a:r>
            <a:r>
              <a:rPr lang="en-US" sz="2800" dirty="0" err="1">
                <a:latin typeface="Times New Roman" panose="02020603050405020304" pitchFamily="18" charset="0"/>
                <a:cs typeface="Times New Roman" panose="02020603050405020304" pitchFamily="18" charset="0"/>
              </a:rPr>
              <a:t>Education.Android</a:t>
            </a:r>
            <a:r>
              <a:rPr lang="en-US" sz="2800" dirty="0">
                <a:latin typeface="Times New Roman" panose="02020603050405020304" pitchFamily="18" charset="0"/>
                <a:cs typeface="Times New Roman" panose="02020603050405020304" pitchFamily="18" charset="0"/>
              </a:rPr>
              <a:t> Developers Official Documentation – </a:t>
            </a:r>
            <a:r>
              <a:rPr lang="en-US" sz="2800" dirty="0" err="1">
                <a:latin typeface="Times New Roman" panose="02020603050405020304" pitchFamily="18" charset="0"/>
                <a:cs typeface="Times New Roman" panose="02020603050405020304" pitchFamily="18" charset="0"/>
              </a:rPr>
              <a:t>WiFi</a:t>
            </a:r>
            <a:r>
              <a:rPr lang="en-US" sz="2800" dirty="0">
                <a:latin typeface="Times New Roman" panose="02020603050405020304" pitchFamily="18" charset="0"/>
                <a:cs typeface="Times New Roman" panose="02020603050405020304" pitchFamily="18" charset="0"/>
              </a:rPr>
              <a:t> Direct and Bluetooth </a:t>
            </a:r>
            <a:r>
              <a:rPr lang="en-US" sz="2800" dirty="0" err="1">
                <a:latin typeface="Times New Roman" panose="02020603050405020304" pitchFamily="18" charset="0"/>
                <a:cs typeface="Times New Roman" panose="02020603050405020304" pitchFamily="18" charset="0"/>
              </a:rPr>
              <a:t>APIs.OkHttp</a:t>
            </a:r>
            <a:r>
              <a:rPr lang="en-US" sz="2800" dirty="0">
                <a:latin typeface="Times New Roman" panose="02020603050405020304" pitchFamily="18" charset="0"/>
                <a:cs typeface="Times New Roman" panose="02020603050405020304" pitchFamily="18" charset="0"/>
              </a:rPr>
              <a:t> Official Documentation.</a:t>
            </a:r>
          </a:p>
          <a:p>
            <a:pPr marL="514350" lvl="0" indent="-514350" algn="just" eaLnBrk="0" fontAlgn="base" hangingPunct="0">
              <a:spcBef>
                <a:spcPct val="0"/>
              </a:spcBef>
              <a:spcAft>
                <a:spcPct val="0"/>
              </a:spcAft>
              <a:buFont typeface="+mj-lt"/>
              <a:buAutoNum type="arabicParenR"/>
            </a:pPr>
            <a:r>
              <a:rPr lang="en-US" sz="2800" dirty="0">
                <a:latin typeface="Times New Roman" panose="02020603050405020304" pitchFamily="18" charset="0"/>
                <a:cs typeface="Times New Roman" panose="02020603050405020304" pitchFamily="18" charset="0"/>
              </a:rPr>
              <a:t>IEEE Research Papers on Secure File Sharing and </a:t>
            </a:r>
            <a:r>
              <a:rPr lang="en-US" sz="2800" dirty="0" err="1">
                <a:latin typeface="Times New Roman" panose="02020603050405020304" pitchFamily="18" charset="0"/>
                <a:cs typeface="Times New Roman" panose="02020603050405020304" pitchFamily="18" charset="0"/>
              </a:rPr>
              <a:t>Authentication.OWASP</a:t>
            </a:r>
            <a:r>
              <a:rPr lang="en-US" sz="2800" dirty="0">
                <a:latin typeface="Times New Roman" panose="02020603050405020304" pitchFamily="18" charset="0"/>
                <a:cs typeface="Times New Roman" panose="02020603050405020304" pitchFamily="18" charset="0"/>
              </a:rPr>
              <a:t> Mobile Security Guidelines.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830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E211E9-8F55-FCCD-05CE-7B6F8D5FA0C0}"/>
            </a:ext>
          </a:extLst>
        </p:cNvPr>
        <p:cNvGrpSpPr/>
        <p:nvPr/>
      </p:nvGrpSpPr>
      <p:grpSpPr>
        <a:xfrm>
          <a:off x="0" y="0"/>
          <a:ext cx="0" cy="0"/>
          <a:chOff x="0" y="0"/>
          <a:chExt cx="0" cy="0"/>
        </a:xfrm>
      </p:grpSpPr>
      <p:sp>
        <p:nvSpPr>
          <p:cNvPr id="11" name="TextBox 8">
            <a:extLst>
              <a:ext uri="{FF2B5EF4-FFF2-40B4-BE49-F238E27FC236}">
                <a16:creationId xmlns:a16="http://schemas.microsoft.com/office/drawing/2014/main" id="{555AD2B9-4D95-D190-6412-18FA3F694B32}"/>
              </a:ext>
            </a:extLst>
          </p:cNvPr>
          <p:cNvSpPr txBox="1"/>
          <p:nvPr/>
        </p:nvSpPr>
        <p:spPr>
          <a:xfrm>
            <a:off x="5469972" y="4538662"/>
            <a:ext cx="7348055" cy="1209675"/>
          </a:xfrm>
          <a:prstGeom prst="rect">
            <a:avLst/>
          </a:prstGeom>
        </p:spPr>
        <p:txBody>
          <a:bodyPr lIns="0" tIns="0" rIns="0" bIns="0" rtlCol="0" anchor="t">
            <a:spAutoFit/>
          </a:bodyPr>
          <a:lstStyle/>
          <a:p>
            <a:pPr marL="0" lvl="0" indent="0" algn="ctr">
              <a:lnSpc>
                <a:spcPts val="9000"/>
              </a:lnSpc>
            </a:pPr>
            <a:r>
              <a:rPr lang="en-US" sz="9000" b="1" spc="-450" dirty="0">
                <a:latin typeface="DM Sans"/>
                <a:ea typeface="DM Sans"/>
                <a:cs typeface="DM Sans"/>
                <a:sym typeface="DM Sans"/>
              </a:rPr>
              <a:t>Thank you</a:t>
            </a:r>
          </a:p>
        </p:txBody>
      </p:sp>
    </p:spTree>
    <p:extLst>
      <p:ext uri="{BB962C8B-B14F-4D97-AF65-F5344CB8AC3E}">
        <p14:creationId xmlns:p14="http://schemas.microsoft.com/office/powerpoint/2010/main" val="750935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716</TotalTime>
  <Words>555</Words>
  <Application>Microsoft Office PowerPoint</Application>
  <PresentationFormat>Custom</PresentationFormat>
  <Paragraphs>61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DM Sans Bold</vt:lpstr>
      <vt:lpstr>DM Sans</vt:lpstr>
      <vt:lpstr>Calibri Light</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Artificial Intelligence Seminar Slides</dc:title>
  <cp:lastModifiedBy>Basil Mathew</cp:lastModifiedBy>
  <cp:revision>48</cp:revision>
  <dcterms:created xsi:type="dcterms:W3CDTF">2006-08-16T00:00:00Z</dcterms:created>
  <dcterms:modified xsi:type="dcterms:W3CDTF">2026-03-05T05:31:16Z</dcterms:modified>
  <dc:identifier>DAG8tGvDa9k</dc:identifier>
</cp:coreProperties>
</file>